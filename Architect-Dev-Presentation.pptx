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(≈45s). Hi — I'm Manfred. I'm going to walk you through Architect.Dev, a portfolio platform I built, with a focus on the technologies I used and how they fit together. I'll stay at an architecture level — no code walkthrough — but by the end you should have a clear mental model of what talks to what and why I picked each piece.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is (≈45s). The product side in one breath: sign in with GitHub, pick the repos you're proud of, publish a curated site. Three things that make it more than a static template. One — it's live. Stars, language tags, timestamps come from the GitHub API at render time. Two — it's configurable per repo. Any project can ship a tiny YAML file to override its title, description, and tags. Three — there's an integrated CV, editable from the same login. That's the whole product surface; the rest of the talk is how it actually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user sees (≈40s). Quick visual before we go under the hood. This whole page is generated at runtime. Every project card is built from a GitHub repo plus an optional YAML override. No one writes HTML for these cards — the next slides show where the data actually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(≈65s). At the highest level the system is just three things that talk to each other. The browser runs a React app — that's the only piece I actually wrote. Supabase gives me two things in one service: authentication, including the GitHub OAuth flow, and a Postgres database with four tables — profiles, folders, portfolio_items, and cvs. GitHub is the third piece. I call the REST API for user and repo data, and I fetch portfolio.yaml files directly from raw.githubusercontent.com. I don't run a server of my own. The browser talks directly to Supabase with an anonymous key, and directly to GitHub. The next five slides each zoom into one of these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Frontend (≈70s). The UI is a standard React 19 + TypeScript app, built with Vite. A few choices worth calling out. First, there are only about a dozen components — four page-level ones for routes and a handful of smaller pieces like ProjectCard. I kept the tree shallow. Second, I didn't pull in react-router. Routing is hash-based and driven by useSyncExternalStore listening to hashchange events. Third, state is plain React hooks — useState, useEffect, useMemo, useTransition for optimistic updates. No Redux, no Context, and no custom hooks library. Fourth, types live right next to the fetch functions that produce them. Profile is defined in lib/portfolio.ts, Project in lib/github.ts. That way, whenever I change an API shape, TypeScript immediately tells me which components are now wrong. Vite is mostly invisible but matters — instant hot reload while developing and small production bundles.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 up close (≈75s). Zoom into how the React side actually works. No Redux, no Context, no custom hook library — each part of the UI uses the smallest primitive that does the job. useState holds the pieces of truth a page needs: who's signed in, what data has loaded, whether we're still loading, and any edit-form buffers. useEffect does the async work on mount or when the URL changes. A cancelled flag in the cleanup function means if you navigate away mid-load, the stale fetch can't overwrite fresh state. useMemo turns the flat list of projects into folder buckets plus an 'unfiled' section and a 'hidden' section. It only recomputes when the inputs actually change, which matters because that bucketing runs on every render. useTransition is what keeps edit mode snappy. When you drag a project to a new folder, the UI updates immediately and the Supabase write is marked as a low-priority background update. useSyncExternalStore is a newer React 18/19 primitive. I use it to subscribe to the browser's hashchange event — the URL fragment becomes just another React value, and I didn't have to pull in a router library. And finally, composition. The UserPage component owns data loading. It then renders either a ReaderView or an OwnerView depending on whether you're logged in as this user. Both share a ProjectCard leaf. Classic React: one component per concern, stitched together by props.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Backend (≈65s). I didn't write a backend — I use Supabase. It's a managed Postgres database with authentication bolted on, exposed via an auto-generated API and a typed JavaScript SDK. There are four tables, and they should be easy to reason about. 'profiles' is one row per user — bio, display name. 'folders' group projects on a portfolio — name and position. 'portfolio_items' is the selection table: which GitHub repos this user has chosen to show, their order, and whether they're hidden. 'cvs' is a per-user CV stored as a JSON blob, one row per user. Two things Supabase handles that I'd otherwise have to build. Authentication — GitHub OAuth works out of the box, and I just subscribe to onAuthStateChange. And row-level security: the rules that say 'only this user can edit their own portfolio items' live in the database, not scattered across my code. Net effect: there's no server of mine to deploy or monitor.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data (≈70s). Two sources come together to build a project card. From GitHub's REST API I fetch the user and their repos — up to a hundred — sorted by recency. Forks get filtered out, and the rest get re-sorted by stars then last-updated. For each visible repo I then make a second request to raw.githubusercontent.com, trying to fetch a file called portfolio.yaml from the default branch. If it exists, I parse it with the yaml npm package. If it doesn't, that's fine — the repo just uses GitHub's own metadata. Merging is the simplest possible rule: YAML fields win, GitHub fills the gaps. So title, description, and tags come from the YAML if present; stars, language, and last-updated always come from GitHub. The result is a normalized Project object, which is what the UI actually renders. That's the entire data-layer trick.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organisation (≈55s). Here's the whole src/ folder. The top-level files are the UI — one file per page, plus ProjectCard for the repeated project row. Everything in lib/ is the data layer: supabase.ts owns the client and auth; portfolio.ts owns database operations for profiles, folders and items; github.ts owns the API calls and the YAML merge; cv.ts owns the CV table; pageData.ts is a small request cache so we don't hit GitHub twice for the same page. Two conventions I stuck to. One — components never import the Supabase SDK or call fetch directly. They go through lib/ functions. That way if I swap Supabase for something else, the UI doesn't care. Two — each file in lib/ has one responsibility. github.ts doesn't know about profiles. portfolio.ts doesn't know about GitHub. They meet in pageData.ts, which is the only place that orchestrates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flow (≈70s). Let me walk through what actually happens between the user typing a URL and seeing a project card. Step one — the URL hash changes. App.tsx uses useSyncExternalStore to listen for hashchange events, parses the hash, and decides which page component to mount. Step two — UserPage mounts and immediately calls loadUserPageData from lib/pageData.ts. Step three — pageData asks Supabase for three things in parallel: the profile row for this username, the folders that user has created, and their portfolio_items. Step four — in the same load, pageData calls github.ts, which fetches the GitHub user, their repos, and, for each repo, tries to grab portfolio.yaml. All of those go out as parallel promises. Step five — results come back and get merged into Project objects. UserPage uses useMemo to bucket them into folders and 'unfiled.' Step six — the component renders ProjectCards inside each section. If you're the owner, the edit view swaps in drag-and-reorder handlers that write back through portfolio.ts. The important thing is that all six steps live in plain React — no framework of mine, no service workers, no server-side rendering.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Styling (≈45s). I deliberately skipped a CSS framework. The whole visual system lives in one styles.css file. At the top is a :root block with CSS custom properties for every colour and a few spacing rules — that's the design system. Class names follow BEM, so components like .project-card have clear modifiers and sub-elements. Why bother? Two reasons. One — zero runtime cost. The browser just reads CSS, there's no build-time JIT like Tailwind. Two — the tokens are the source of truth. When I wanted to shift the whole site one shade cooler, I changed five variables, not fifty components. It's boring, but that's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(≈30s). That was Architect.Dev — React and TypeScript on the front, Supabase for auth and data, GitHub's REST API plus a tiny YAML convention for project content, and plain CSS with custom properties for the look. Happy to dig into any layer you're curious about. Thanks.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326"/>
        </a:solidFill>
      </p:bgPr>
    </p:bg>
    <p:spTree>
      <p:nvGrpSpPr>
        <p:cNvPr id="1" name=""/>
        <p:cNvGrpSpPr/>
        <p:nvPr/>
      </p:nvGrpSpPr>
      <p:grpSpPr>
        <a:xfrm>
          <a:off x="0" y="0"/>
          <a:ext cx="0" cy="0"/>
          <a:chOff x="0" y="0"/>
          <a:chExt cx="0" cy="0"/>
        </a:xfrm>
      </p:grpSpPr>
      <p:sp>
        <p:nvSpPr>
          <p:cNvPr id="2" name="Shape 0"/>
          <p:cNvSpPr/>
          <p:nvPr/>
        </p:nvSpPr>
        <p:spPr>
          <a:xfrm>
            <a:off x="0" y="0"/>
            <a:ext cx="73152" cy="5143500"/>
          </a:xfrm>
          <a:prstGeom prst="rect">
            <a:avLst/>
          </a:prstGeom>
          <a:solidFill>
            <a:srgbClr val="C0C1FF"/>
          </a:solidFill>
          <a:ln w="12700">
            <a:solidFill>
              <a:srgbClr val="C0C1FF"/>
            </a:solidFill>
            <a:prstDash val="solid"/>
          </a:ln>
        </p:spPr>
      </p:sp>
      <p:sp>
        <p:nvSpPr>
          <p:cNvPr id="3" name="Text 1"/>
          <p:cNvSpPr/>
          <p:nvPr/>
        </p:nvSpPr>
        <p:spPr>
          <a:xfrm>
            <a:off x="640080" y="502920"/>
            <a:ext cx="8229600" cy="274320"/>
          </a:xfrm>
          <a:prstGeom prst="rect">
            <a:avLst/>
          </a:prstGeom>
          <a:noFill/>
          <a:ln/>
        </p:spPr>
        <p:txBody>
          <a:bodyPr wrap="square" lIns="0" tIns="0" rIns="0" bIns="0" rtlCol="0" anchor="ctr"/>
          <a:lstStyle/>
          <a:p>
            <a:pPr indent="0" marL="0">
              <a:buNone/>
            </a:pPr>
            <a:r>
              <a:rPr lang="en-US" sz="1000" b="1" spc="600" kern="0" dirty="0">
                <a:solidFill>
                  <a:srgbClr val="C0C1FF"/>
                </a:solidFill>
                <a:latin typeface="Space Grotesk" pitchFamily="34" charset="0"/>
                <a:ea typeface="Space Grotesk" pitchFamily="34" charset="-122"/>
                <a:cs typeface="Space Grotesk" pitchFamily="34" charset="-120"/>
              </a:rPr>
              <a:t>A STUDENT PROJECT  ·  TECH OVERVIEW  ·  APRIL 2026</a:t>
            </a:r>
            <a:endParaRPr lang="en-US" sz="1000" dirty="0"/>
          </a:p>
        </p:txBody>
      </p:sp>
      <p:sp>
        <p:nvSpPr>
          <p:cNvPr id="4" name="Text 2"/>
          <p:cNvSpPr/>
          <p:nvPr/>
        </p:nvSpPr>
        <p:spPr>
          <a:xfrm>
            <a:off x="640080" y="1234440"/>
            <a:ext cx="8229600" cy="1097280"/>
          </a:xfrm>
          <a:prstGeom prst="rect">
            <a:avLst/>
          </a:prstGeom>
          <a:noFill/>
          <a:ln/>
        </p:spPr>
        <p:txBody>
          <a:bodyPr wrap="square" lIns="0" tIns="0" rIns="0" bIns="0" rtlCol="0" anchor="ctr"/>
          <a:lstStyle/>
          <a:p>
            <a:pPr indent="0" marL="0">
              <a:buNone/>
            </a:pPr>
            <a:r>
              <a:rPr lang="en-US" sz="7200" b="1" dirty="0">
                <a:solidFill>
                  <a:srgbClr val="FFFFFF"/>
                </a:solidFill>
                <a:latin typeface="Space Grotesk" pitchFamily="34" charset="0"/>
                <a:ea typeface="Space Grotesk" pitchFamily="34" charset="-122"/>
                <a:cs typeface="Space Grotesk" pitchFamily="34" charset="-120"/>
              </a:rPr>
              <a:t>Architect.Dev</a:t>
            </a:r>
            <a:endParaRPr lang="en-US" sz="7200" dirty="0"/>
          </a:p>
        </p:txBody>
      </p:sp>
      <p:sp>
        <p:nvSpPr>
          <p:cNvPr id="5" name="Text 3"/>
          <p:cNvSpPr/>
          <p:nvPr/>
        </p:nvSpPr>
        <p:spPr>
          <a:xfrm>
            <a:off x="640080" y="2514600"/>
            <a:ext cx="7772400" cy="1188720"/>
          </a:xfrm>
          <a:prstGeom prst="rect">
            <a:avLst/>
          </a:prstGeom>
          <a:noFill/>
          <a:ln/>
        </p:spPr>
        <p:txBody>
          <a:bodyPr wrap="square" lIns="0" tIns="0" rIns="0" bIns="0" rtlCol="0" anchor="ctr"/>
          <a:lstStyle/>
          <a:p>
            <a:pPr indent="0" marL="0">
              <a:buNone/>
            </a:pPr>
            <a:r>
              <a:rPr lang="en-US" sz="2400" dirty="0">
                <a:solidFill>
                  <a:srgbClr val="FFFFFF"/>
                </a:solidFill>
                <a:latin typeface="Space Grotesk" pitchFamily="34" charset="0"/>
                <a:ea typeface="Space Grotesk" pitchFamily="34" charset="-122"/>
                <a:cs typeface="Space Grotesk" pitchFamily="34" charset="-120"/>
              </a:rPr>
              <a:t>A portfolio platform — and how
</a:t>
            </a:r>
            <a:pPr indent="0" marL="0">
              <a:buNone/>
            </a:pPr>
            <a:r>
              <a:rPr lang="en-US" sz="2400" i="1" dirty="0">
                <a:solidFill>
                  <a:srgbClr val="C0C1FF"/>
                </a:solidFill>
                <a:latin typeface="Space Grotesk" pitchFamily="34" charset="0"/>
                <a:ea typeface="Space Grotesk" pitchFamily="34" charset="-122"/>
                <a:cs typeface="Space Grotesk" pitchFamily="34" charset="-120"/>
              </a:rPr>
              <a:t>it's put together.</a:t>
            </a:r>
            <a:endParaRPr lang="en-US" sz="2400" dirty="0"/>
          </a:p>
        </p:txBody>
      </p:sp>
      <p:sp>
        <p:nvSpPr>
          <p:cNvPr id="6" name="Shape 4"/>
          <p:cNvSpPr/>
          <p:nvPr/>
        </p:nvSpPr>
        <p:spPr>
          <a:xfrm>
            <a:off x="640080" y="4160520"/>
            <a:ext cx="548640" cy="0"/>
          </a:xfrm>
          <a:prstGeom prst="line">
            <a:avLst/>
          </a:prstGeom>
          <a:noFill/>
          <a:ln w="19050">
            <a:solidFill>
              <a:srgbClr val="C0C1FF"/>
            </a:solidFill>
            <a:prstDash val="solid"/>
          </a:ln>
        </p:spPr>
      </p:sp>
      <p:sp>
        <p:nvSpPr>
          <p:cNvPr id="7" name="Text 5"/>
          <p:cNvSpPr/>
          <p:nvPr/>
        </p:nvSpPr>
        <p:spPr>
          <a:xfrm>
            <a:off x="640080" y="4251960"/>
            <a:ext cx="5486400" cy="274320"/>
          </a:xfrm>
          <a:prstGeom prst="rect">
            <a:avLst/>
          </a:prstGeom>
          <a:noFill/>
          <a:ln/>
        </p:spPr>
        <p:txBody>
          <a:bodyPr wrap="square" lIns="0" tIns="0" rIns="0" bIns="0" rtlCol="0" anchor="ctr"/>
          <a:lstStyle/>
          <a:p>
            <a:pPr indent="0" marL="0">
              <a:buNone/>
            </a:pPr>
            <a:r>
              <a:rPr lang="en-US" sz="1200" dirty="0">
                <a:solidFill>
                  <a:srgbClr val="A7ADC6"/>
                </a:solidFill>
                <a:latin typeface="Inter" pitchFamily="34" charset="0"/>
                <a:ea typeface="Inter" pitchFamily="34" charset="-122"/>
                <a:cs typeface="Inter" pitchFamily="34" charset="-120"/>
              </a:rPr>
              <a:t>Manfred  —  10 minute walkthrough</a:t>
            </a:r>
            <a:endParaRPr lang="en-US" sz="1200" dirty="0"/>
          </a:p>
        </p:txBody>
      </p:sp>
      <p:sp>
        <p:nvSpPr>
          <p:cNvPr id="8" name="Text 6"/>
          <p:cNvSpPr/>
          <p:nvPr/>
        </p:nvSpPr>
        <p:spPr>
          <a:xfrm>
            <a:off x="7863840" y="4251960"/>
            <a:ext cx="1097280" cy="274320"/>
          </a:xfrm>
          <a:prstGeom prst="rect">
            <a:avLst/>
          </a:prstGeom>
          <a:noFill/>
          <a:ln/>
        </p:spPr>
        <p:txBody>
          <a:bodyPr wrap="square" lIns="0" tIns="0" rIns="0" bIns="0" rtlCol="0" anchor="ctr"/>
          <a:lstStyle/>
          <a:p>
            <a:pPr algn="r" indent="0" marL="0">
              <a:buNone/>
            </a:pPr>
            <a:r>
              <a:rPr lang="en-US" sz="1000" b="1" dirty="0">
                <a:solidFill>
                  <a:srgbClr val="6E7699"/>
                </a:solidFill>
                <a:latin typeface="Space Grotesk" pitchFamily="34" charset="0"/>
                <a:ea typeface="Space Grotesk" pitchFamily="34" charset="-122"/>
                <a:cs typeface="Space Grotesk" pitchFamily="34" charset="-120"/>
              </a:rPr>
              <a:t>01 / 12</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326"/>
        </a:solidFill>
      </p:bgPr>
    </p:bg>
    <p:spTree>
      <p:nvGrpSpPr>
        <p:cNvPr id="1" name=""/>
        <p:cNvGrpSpPr/>
        <p:nvPr/>
      </p:nvGrpSpPr>
      <p:grpSpPr>
        <a:xfrm>
          <a:off x="0" y="0"/>
          <a:ext cx="0" cy="0"/>
          <a:chOff x="0" y="0"/>
          <a:chExt cx="0" cy="0"/>
        </a:xfrm>
      </p:grpSpPr>
      <p:sp>
        <p:nvSpPr>
          <p:cNvPr id="2" name="Text 0"/>
          <p:cNvSpPr/>
          <p:nvPr/>
        </p:nvSpPr>
        <p:spPr>
          <a:xfrm>
            <a:off x="457200" y="365760"/>
            <a:ext cx="8229600" cy="228600"/>
          </a:xfrm>
          <a:prstGeom prst="rect">
            <a:avLst/>
          </a:prstGeom>
          <a:noFill/>
          <a:ln/>
        </p:spPr>
        <p:txBody>
          <a:bodyPr wrap="square" lIns="0" tIns="0" rIns="0" bIns="0" rtlCol="0" anchor="ctr"/>
          <a:lstStyle/>
          <a:p>
            <a:pPr indent="0" marL="0">
              <a:buNone/>
            </a:pPr>
            <a:r>
              <a:rPr lang="en-US" sz="1000" b="1" spc="600" kern="0" dirty="0">
                <a:solidFill>
                  <a:srgbClr val="C0C1FF"/>
                </a:solidFill>
                <a:latin typeface="Space Grotesk" pitchFamily="34" charset="0"/>
                <a:ea typeface="Space Grotesk" pitchFamily="34" charset="-122"/>
                <a:cs typeface="Space Grotesk" pitchFamily="34" charset="-120"/>
              </a:rPr>
              <a:t>01 · IN ONE SLIDE</a:t>
            </a:r>
            <a:endParaRPr lang="en-US" sz="1000" dirty="0"/>
          </a:p>
        </p:txBody>
      </p:sp>
      <p:sp>
        <p:nvSpPr>
          <p:cNvPr id="3" name="Text 1"/>
          <p:cNvSpPr/>
          <p:nvPr/>
        </p:nvSpPr>
        <p:spPr>
          <a:xfrm>
            <a:off x="457200" y="685800"/>
            <a:ext cx="8229600" cy="914400"/>
          </a:xfrm>
          <a:prstGeom prst="rect">
            <a:avLst/>
          </a:prstGeom>
          <a:noFill/>
          <a:ln/>
        </p:spPr>
        <p:txBody>
          <a:bodyPr wrap="square" lIns="0" tIns="0" rIns="0" bIns="0" rtlCol="0" anchor="ctr"/>
          <a:lstStyle/>
          <a:p>
            <a:pPr indent="0" marL="0">
              <a:buNone/>
            </a:pPr>
            <a:r>
              <a:rPr lang="en-US" sz="4000" b="1" dirty="0">
                <a:solidFill>
                  <a:srgbClr val="FFFFFF"/>
                </a:solidFill>
                <a:latin typeface="Space Grotesk" pitchFamily="34" charset="0"/>
                <a:ea typeface="Space Grotesk" pitchFamily="34" charset="-122"/>
                <a:cs typeface="Space Grotesk" pitchFamily="34" charset="-120"/>
              </a:rPr>
              <a:t>What it is.</a:t>
            </a:r>
            <a:endParaRPr lang="en-US" sz="4000" dirty="0"/>
          </a:p>
        </p:txBody>
      </p:sp>
      <p:sp>
        <p:nvSpPr>
          <p:cNvPr id="4" name="Text 2"/>
          <p:cNvSpPr/>
          <p:nvPr/>
        </p:nvSpPr>
        <p:spPr>
          <a:xfrm>
            <a:off x="457200" y="1691640"/>
            <a:ext cx="8229600" cy="1005840"/>
          </a:xfrm>
          <a:prstGeom prst="rect">
            <a:avLst/>
          </a:prstGeom>
          <a:noFill/>
          <a:ln/>
        </p:spPr>
        <p:txBody>
          <a:bodyPr wrap="square" lIns="0" tIns="0" rIns="0" bIns="0" rtlCol="0" anchor="ctr"/>
          <a:lstStyle/>
          <a:p>
            <a:pPr indent="0" marL="0">
              <a:buNone/>
            </a:pPr>
            <a:r>
              <a:rPr lang="en-US" sz="1500" dirty="0">
                <a:solidFill>
                  <a:srgbClr val="A7ADC6"/>
                </a:solidFill>
                <a:latin typeface="Inter" pitchFamily="34" charset="0"/>
                <a:ea typeface="Inter" pitchFamily="34" charset="-122"/>
                <a:cs typeface="Inter" pitchFamily="34" charset="-120"/>
              </a:rPr>
              <a:t>Sign in with GitHub, pick the repos you're proud of, and publish a curated portfolio site. The site pulls live data from GitHub and lets each repo define its own presentation through a small YAML file.</a:t>
            </a:r>
            <a:endParaRPr lang="en-US" sz="1500" dirty="0"/>
          </a:p>
        </p:txBody>
      </p:sp>
      <p:sp>
        <p:nvSpPr>
          <p:cNvPr id="5" name="Shape 3"/>
          <p:cNvSpPr/>
          <p:nvPr/>
        </p:nvSpPr>
        <p:spPr>
          <a:xfrm>
            <a:off x="457200" y="2926080"/>
            <a:ext cx="2560320" cy="1600200"/>
          </a:xfrm>
          <a:prstGeom prst="rect">
            <a:avLst/>
          </a:prstGeom>
          <a:solidFill>
            <a:srgbClr val="141F3D"/>
          </a:solidFill>
          <a:ln w="9525">
            <a:solidFill>
              <a:srgbClr val="2A3660"/>
            </a:solidFill>
            <a:prstDash val="solid"/>
          </a:ln>
        </p:spPr>
      </p:sp>
      <p:sp>
        <p:nvSpPr>
          <p:cNvPr id="6" name="Shape 4"/>
          <p:cNvSpPr/>
          <p:nvPr/>
        </p:nvSpPr>
        <p:spPr>
          <a:xfrm>
            <a:off x="457200" y="2926080"/>
            <a:ext cx="45720" cy="1600200"/>
          </a:xfrm>
          <a:prstGeom prst="rect">
            <a:avLst/>
          </a:prstGeom>
          <a:solidFill>
            <a:srgbClr val="C0C1FF"/>
          </a:solidFill>
          <a:ln w="12700">
            <a:solidFill>
              <a:srgbClr val="C0C1FF"/>
            </a:solidFill>
            <a:prstDash val="solid"/>
          </a:ln>
        </p:spPr>
      </p:sp>
      <p:sp>
        <p:nvSpPr>
          <p:cNvPr id="7" name="Text 5"/>
          <p:cNvSpPr/>
          <p:nvPr/>
        </p:nvSpPr>
        <p:spPr>
          <a:xfrm>
            <a:off x="685800" y="3154680"/>
            <a:ext cx="2194560" cy="411480"/>
          </a:xfrm>
          <a:prstGeom prst="rect">
            <a:avLst/>
          </a:prstGeom>
          <a:noFill/>
          <a:ln/>
        </p:spPr>
        <p:txBody>
          <a:bodyPr wrap="square" lIns="0" tIns="0" rIns="0" bIns="0" rtlCol="0" anchor="ctr"/>
          <a:lstStyle/>
          <a:p>
            <a:pPr indent="0" marL="0">
              <a:buNone/>
            </a:pPr>
            <a:r>
              <a:rPr lang="en-US" sz="1600" b="1" dirty="0">
                <a:solidFill>
                  <a:srgbClr val="FFFFFF"/>
                </a:solidFill>
                <a:latin typeface="Space Grotesk" pitchFamily="34" charset="0"/>
                <a:ea typeface="Space Grotesk" pitchFamily="34" charset="-122"/>
                <a:cs typeface="Space Grotesk" pitchFamily="34" charset="-120"/>
              </a:rPr>
              <a:t>Live GitHub data</a:t>
            </a:r>
            <a:endParaRPr lang="en-US" sz="1600" dirty="0"/>
          </a:p>
        </p:txBody>
      </p:sp>
      <p:sp>
        <p:nvSpPr>
          <p:cNvPr id="8" name="Text 6"/>
          <p:cNvSpPr/>
          <p:nvPr/>
        </p:nvSpPr>
        <p:spPr>
          <a:xfrm>
            <a:off x="685800" y="3639312"/>
            <a:ext cx="2194560" cy="822960"/>
          </a:xfrm>
          <a:prstGeom prst="rect">
            <a:avLst/>
          </a:prstGeom>
          <a:noFill/>
          <a:ln/>
        </p:spPr>
        <p:txBody>
          <a:bodyPr wrap="square" lIns="0" tIns="0" rIns="0" bIns="0" rtlCol="0" anchor="ctr"/>
          <a:lstStyle/>
          <a:p>
            <a:pPr indent="0" marL="0">
              <a:buNone/>
            </a:pPr>
            <a:r>
              <a:rPr lang="en-US" sz="1150" dirty="0">
                <a:solidFill>
                  <a:srgbClr val="A7ADC6"/>
                </a:solidFill>
                <a:latin typeface="Inter" pitchFamily="34" charset="0"/>
                <a:ea typeface="Inter" pitchFamily="34" charset="-122"/>
                <a:cs typeface="Inter" pitchFamily="34" charset="-120"/>
              </a:rPr>
              <a:t>Stars, language, and last-updated pulled on load.</a:t>
            </a:r>
            <a:endParaRPr lang="en-US" sz="1150" dirty="0"/>
          </a:p>
        </p:txBody>
      </p:sp>
      <p:sp>
        <p:nvSpPr>
          <p:cNvPr id="9" name="Shape 7"/>
          <p:cNvSpPr/>
          <p:nvPr/>
        </p:nvSpPr>
        <p:spPr>
          <a:xfrm>
            <a:off x="3291840" y="2926080"/>
            <a:ext cx="2560320" cy="1600200"/>
          </a:xfrm>
          <a:prstGeom prst="rect">
            <a:avLst/>
          </a:prstGeom>
          <a:solidFill>
            <a:srgbClr val="141F3D"/>
          </a:solidFill>
          <a:ln w="9525">
            <a:solidFill>
              <a:srgbClr val="2A3660"/>
            </a:solidFill>
            <a:prstDash val="solid"/>
          </a:ln>
        </p:spPr>
      </p:sp>
      <p:sp>
        <p:nvSpPr>
          <p:cNvPr id="10" name="Shape 8"/>
          <p:cNvSpPr/>
          <p:nvPr/>
        </p:nvSpPr>
        <p:spPr>
          <a:xfrm>
            <a:off x="3291840" y="2926080"/>
            <a:ext cx="45720" cy="1600200"/>
          </a:xfrm>
          <a:prstGeom prst="rect">
            <a:avLst/>
          </a:prstGeom>
          <a:solidFill>
            <a:srgbClr val="C0C1FF"/>
          </a:solidFill>
          <a:ln w="12700">
            <a:solidFill>
              <a:srgbClr val="C0C1FF"/>
            </a:solidFill>
            <a:prstDash val="solid"/>
          </a:ln>
        </p:spPr>
      </p:sp>
      <p:sp>
        <p:nvSpPr>
          <p:cNvPr id="11" name="Text 9"/>
          <p:cNvSpPr/>
          <p:nvPr/>
        </p:nvSpPr>
        <p:spPr>
          <a:xfrm>
            <a:off x="3520440" y="3154680"/>
            <a:ext cx="2194560" cy="411480"/>
          </a:xfrm>
          <a:prstGeom prst="rect">
            <a:avLst/>
          </a:prstGeom>
          <a:noFill/>
          <a:ln/>
        </p:spPr>
        <p:txBody>
          <a:bodyPr wrap="square" lIns="0" tIns="0" rIns="0" bIns="0" rtlCol="0" anchor="ctr"/>
          <a:lstStyle/>
          <a:p>
            <a:pPr indent="0" marL="0">
              <a:buNone/>
            </a:pPr>
            <a:r>
              <a:rPr lang="en-US" sz="1600" b="1" dirty="0">
                <a:solidFill>
                  <a:srgbClr val="FFFFFF"/>
                </a:solidFill>
                <a:latin typeface="Space Grotesk" pitchFamily="34" charset="0"/>
                <a:ea typeface="Space Grotesk" pitchFamily="34" charset="-122"/>
                <a:cs typeface="Space Grotesk" pitchFamily="34" charset="-120"/>
              </a:rPr>
              <a:t>Per-repo config</a:t>
            </a:r>
            <a:endParaRPr lang="en-US" sz="1600" dirty="0"/>
          </a:p>
        </p:txBody>
      </p:sp>
      <p:sp>
        <p:nvSpPr>
          <p:cNvPr id="12" name="Text 10"/>
          <p:cNvSpPr/>
          <p:nvPr/>
        </p:nvSpPr>
        <p:spPr>
          <a:xfrm>
            <a:off x="3520440" y="3639312"/>
            <a:ext cx="2194560" cy="822960"/>
          </a:xfrm>
          <a:prstGeom prst="rect">
            <a:avLst/>
          </a:prstGeom>
          <a:noFill/>
          <a:ln/>
        </p:spPr>
        <p:txBody>
          <a:bodyPr wrap="square" lIns="0" tIns="0" rIns="0" bIns="0" rtlCol="0" anchor="ctr"/>
          <a:lstStyle/>
          <a:p>
            <a:pPr indent="0" marL="0">
              <a:buNone/>
            </a:pPr>
            <a:r>
              <a:rPr lang="en-US" sz="1150" dirty="0">
                <a:solidFill>
                  <a:srgbClr val="A7ADC6"/>
                </a:solidFill>
                <a:latin typeface="Inter" pitchFamily="34" charset="0"/>
                <a:ea typeface="Inter" pitchFamily="34" charset="-122"/>
                <a:cs typeface="Inter" pitchFamily="34" charset="-120"/>
              </a:rPr>
              <a:t>Drop a portfolio.yaml to override title, description, tags.</a:t>
            </a:r>
            <a:endParaRPr lang="en-US" sz="1150" dirty="0"/>
          </a:p>
        </p:txBody>
      </p:sp>
      <p:sp>
        <p:nvSpPr>
          <p:cNvPr id="13" name="Shape 11"/>
          <p:cNvSpPr/>
          <p:nvPr/>
        </p:nvSpPr>
        <p:spPr>
          <a:xfrm>
            <a:off x="6126480" y="2926080"/>
            <a:ext cx="2560320" cy="1600200"/>
          </a:xfrm>
          <a:prstGeom prst="rect">
            <a:avLst/>
          </a:prstGeom>
          <a:solidFill>
            <a:srgbClr val="141F3D"/>
          </a:solidFill>
          <a:ln w="9525">
            <a:solidFill>
              <a:srgbClr val="2A3660"/>
            </a:solidFill>
            <a:prstDash val="solid"/>
          </a:ln>
        </p:spPr>
      </p:sp>
      <p:sp>
        <p:nvSpPr>
          <p:cNvPr id="14" name="Shape 12"/>
          <p:cNvSpPr/>
          <p:nvPr/>
        </p:nvSpPr>
        <p:spPr>
          <a:xfrm>
            <a:off x="6126480" y="2926080"/>
            <a:ext cx="45720" cy="1600200"/>
          </a:xfrm>
          <a:prstGeom prst="rect">
            <a:avLst/>
          </a:prstGeom>
          <a:solidFill>
            <a:srgbClr val="C0C1FF"/>
          </a:solidFill>
          <a:ln w="12700">
            <a:solidFill>
              <a:srgbClr val="C0C1FF"/>
            </a:solidFill>
            <a:prstDash val="solid"/>
          </a:ln>
        </p:spPr>
      </p:sp>
      <p:sp>
        <p:nvSpPr>
          <p:cNvPr id="15" name="Text 13"/>
          <p:cNvSpPr/>
          <p:nvPr/>
        </p:nvSpPr>
        <p:spPr>
          <a:xfrm>
            <a:off x="6355080" y="3154680"/>
            <a:ext cx="2194560" cy="411480"/>
          </a:xfrm>
          <a:prstGeom prst="rect">
            <a:avLst/>
          </a:prstGeom>
          <a:noFill/>
          <a:ln/>
        </p:spPr>
        <p:txBody>
          <a:bodyPr wrap="square" lIns="0" tIns="0" rIns="0" bIns="0" rtlCol="0" anchor="ctr"/>
          <a:lstStyle/>
          <a:p>
            <a:pPr indent="0" marL="0">
              <a:buNone/>
            </a:pPr>
            <a:r>
              <a:rPr lang="en-US" sz="1600" b="1" dirty="0">
                <a:solidFill>
                  <a:srgbClr val="FFFFFF"/>
                </a:solidFill>
                <a:latin typeface="Space Grotesk" pitchFamily="34" charset="0"/>
                <a:ea typeface="Space Grotesk" pitchFamily="34" charset="-122"/>
                <a:cs typeface="Space Grotesk" pitchFamily="34" charset="-120"/>
              </a:rPr>
              <a:t>Integrated CV</a:t>
            </a:r>
            <a:endParaRPr lang="en-US" sz="1600" dirty="0"/>
          </a:p>
        </p:txBody>
      </p:sp>
      <p:sp>
        <p:nvSpPr>
          <p:cNvPr id="16" name="Text 14"/>
          <p:cNvSpPr/>
          <p:nvPr/>
        </p:nvSpPr>
        <p:spPr>
          <a:xfrm>
            <a:off x="6355080" y="3639312"/>
            <a:ext cx="2194560" cy="822960"/>
          </a:xfrm>
          <a:prstGeom prst="rect">
            <a:avLst/>
          </a:prstGeom>
          <a:noFill/>
          <a:ln/>
        </p:spPr>
        <p:txBody>
          <a:bodyPr wrap="square" lIns="0" tIns="0" rIns="0" bIns="0" rtlCol="0" anchor="ctr"/>
          <a:lstStyle/>
          <a:p>
            <a:pPr indent="0" marL="0">
              <a:buNone/>
            </a:pPr>
            <a:r>
              <a:rPr lang="en-US" sz="1150" dirty="0">
                <a:solidFill>
                  <a:srgbClr val="A7ADC6"/>
                </a:solidFill>
                <a:latin typeface="Inter" pitchFamily="34" charset="0"/>
                <a:ea typeface="Inter" pitchFamily="34" charset="-122"/>
                <a:cs typeface="Inter" pitchFamily="34" charset="-120"/>
              </a:rPr>
              <a:t>Same login, same design — experience, skills, contact.</a:t>
            </a:r>
            <a:endParaRPr lang="en-US" sz="1150" dirty="0"/>
          </a:p>
        </p:txBody>
      </p:sp>
      <p:sp>
        <p:nvSpPr>
          <p:cNvPr id="17" name="Shape 15"/>
          <p:cNvSpPr/>
          <p:nvPr/>
        </p:nvSpPr>
        <p:spPr>
          <a:xfrm>
            <a:off x="457200" y="4828032"/>
            <a:ext cx="8229600" cy="0"/>
          </a:xfrm>
          <a:prstGeom prst="line">
            <a:avLst/>
          </a:prstGeom>
          <a:noFill/>
          <a:ln w="9525">
            <a:solidFill>
              <a:srgbClr val="2A3660"/>
            </a:solidFill>
            <a:prstDash val="solid"/>
          </a:ln>
        </p:spPr>
      </p:sp>
      <p:sp>
        <p:nvSpPr>
          <p:cNvPr id="18" name="Text 16"/>
          <p:cNvSpPr/>
          <p:nvPr/>
        </p:nvSpPr>
        <p:spPr>
          <a:xfrm>
            <a:off x="457200" y="4864608"/>
            <a:ext cx="2743200" cy="228600"/>
          </a:xfrm>
          <a:prstGeom prst="rect">
            <a:avLst/>
          </a:prstGeom>
          <a:noFill/>
          <a:ln/>
        </p:spPr>
        <p:txBody>
          <a:bodyPr wrap="square" lIns="0" tIns="0" rIns="0" bIns="0" rtlCol="0" anchor="ctr"/>
          <a:lstStyle/>
          <a:p>
            <a:pPr indent="0" marL="0">
              <a:buNone/>
            </a:pPr>
            <a:r>
              <a:rPr lang="en-US" sz="800" b="1" spc="400" kern="0" dirty="0">
                <a:solidFill>
                  <a:srgbClr val="6E7699"/>
                </a:solidFill>
                <a:latin typeface="Space Grotesk" pitchFamily="34" charset="0"/>
                <a:ea typeface="Space Grotesk" pitchFamily="34" charset="-122"/>
                <a:cs typeface="Space Grotesk" pitchFamily="34" charset="-120"/>
              </a:rPr>
              <a:t>ARCHITECT.DEV</a:t>
            </a:r>
            <a:endParaRPr lang="en-US" sz="800" dirty="0"/>
          </a:p>
        </p:txBody>
      </p:sp>
      <p:sp>
        <p:nvSpPr>
          <p:cNvPr id="19" name="Text 17"/>
          <p:cNvSpPr/>
          <p:nvPr/>
        </p:nvSpPr>
        <p:spPr>
          <a:xfrm>
            <a:off x="6400800" y="4864608"/>
            <a:ext cx="2286000" cy="228600"/>
          </a:xfrm>
          <a:prstGeom prst="rect">
            <a:avLst/>
          </a:prstGeom>
          <a:noFill/>
          <a:ln/>
        </p:spPr>
        <p:txBody>
          <a:bodyPr wrap="square" lIns="0" tIns="0" rIns="0" bIns="0" rtlCol="0" anchor="ctr"/>
          <a:lstStyle/>
          <a:p>
            <a:pPr algn="r" indent="0" marL="0">
              <a:buNone/>
            </a:pPr>
            <a:r>
              <a:rPr lang="en-US" sz="800" dirty="0">
                <a:solidFill>
                  <a:srgbClr val="6E7699"/>
                </a:solidFill>
                <a:latin typeface="Space Grotesk" pitchFamily="34" charset="0"/>
                <a:ea typeface="Space Grotesk" pitchFamily="34" charset="-122"/>
                <a:cs typeface="Space Grotesk" pitchFamily="34" charset="-120"/>
              </a:rPr>
              <a:t>2 / 12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326"/>
        </a:solidFill>
      </p:bgPr>
    </p:bg>
    <p:spTree>
      <p:nvGrpSpPr>
        <p:cNvPr id="1" name=""/>
        <p:cNvGrpSpPr/>
        <p:nvPr/>
      </p:nvGrpSpPr>
      <p:grpSpPr>
        <a:xfrm>
          <a:off x="0" y="0"/>
          <a:ext cx="0" cy="0"/>
          <a:chOff x="0" y="0"/>
          <a:chExt cx="0" cy="0"/>
        </a:xfrm>
      </p:grpSpPr>
      <p:sp>
        <p:nvSpPr>
          <p:cNvPr id="2" name="Text 0"/>
          <p:cNvSpPr/>
          <p:nvPr/>
        </p:nvSpPr>
        <p:spPr>
          <a:xfrm>
            <a:off x="457200" y="365760"/>
            <a:ext cx="8229600" cy="228600"/>
          </a:xfrm>
          <a:prstGeom prst="rect">
            <a:avLst/>
          </a:prstGeom>
          <a:noFill/>
          <a:ln/>
        </p:spPr>
        <p:txBody>
          <a:bodyPr wrap="square" lIns="0" tIns="0" rIns="0" bIns="0" rtlCol="0" anchor="ctr"/>
          <a:lstStyle/>
          <a:p>
            <a:pPr indent="0" marL="0">
              <a:buNone/>
            </a:pPr>
            <a:r>
              <a:rPr lang="en-US" sz="1000" b="1" spc="600" kern="0" dirty="0">
                <a:solidFill>
                  <a:srgbClr val="C0C1FF"/>
                </a:solidFill>
                <a:latin typeface="Space Grotesk" pitchFamily="34" charset="0"/>
                <a:ea typeface="Space Grotesk" pitchFamily="34" charset="-122"/>
                <a:cs typeface="Space Grotesk" pitchFamily="34" charset="-120"/>
              </a:rPr>
              <a:t>02 · WHAT THE USER SEES</a:t>
            </a:r>
            <a:endParaRPr lang="en-US" sz="1000" dirty="0"/>
          </a:p>
        </p:txBody>
      </p:sp>
      <p:sp>
        <p:nvSpPr>
          <p:cNvPr id="3" name="Text 1"/>
          <p:cNvSpPr/>
          <p:nvPr/>
        </p:nvSpPr>
        <p:spPr>
          <a:xfrm>
            <a:off x="457200" y="1005840"/>
            <a:ext cx="4754880" cy="1645920"/>
          </a:xfrm>
          <a:prstGeom prst="rect">
            <a:avLst/>
          </a:prstGeom>
          <a:noFill/>
          <a:ln/>
        </p:spPr>
        <p:txBody>
          <a:bodyPr wrap="square" lIns="0" tIns="0" rIns="0" bIns="0" rtlCol="0" anchor="ctr"/>
          <a:lstStyle/>
          <a:p>
            <a:pPr indent="0" marL="0">
              <a:buNone/>
            </a:pPr>
            <a:r>
              <a:rPr lang="en-US" sz="3200" b="1" dirty="0">
                <a:solidFill>
                  <a:srgbClr val="FFFFFF"/>
                </a:solidFill>
                <a:latin typeface="Space Grotesk" pitchFamily="34" charset="0"/>
                <a:ea typeface="Space Grotesk" pitchFamily="34" charset="-122"/>
                <a:cs typeface="Space Grotesk" pitchFamily="34" charset="-120"/>
              </a:rPr>
              <a:t>One page,</a:t>
            </a:r>
            <a:endParaRPr lang="en-US" sz="3200" dirty="0"/>
          </a:p>
          <a:p>
            <a:pPr indent="0" marL="0">
              <a:buNone/>
            </a:pPr>
            <a:r>
              <a:rPr lang="en-US" sz="3200" b="1" dirty="0">
                <a:solidFill>
                  <a:srgbClr val="FFFFFF"/>
                </a:solidFill>
                <a:latin typeface="Space Grotesk" pitchFamily="34" charset="0"/>
                <a:ea typeface="Space Grotesk" pitchFamily="34" charset="-122"/>
                <a:cs typeface="Space Grotesk" pitchFamily="34" charset="-120"/>
              </a:rPr>
              <a:t>live from GitHub.</a:t>
            </a:r>
            <a:endParaRPr lang="en-US" sz="3200" dirty="0"/>
          </a:p>
        </p:txBody>
      </p:sp>
      <p:sp>
        <p:nvSpPr>
          <p:cNvPr id="4" name="Text 2"/>
          <p:cNvSpPr/>
          <p:nvPr/>
        </p:nvSpPr>
        <p:spPr>
          <a:xfrm>
            <a:off x="457200" y="2743200"/>
            <a:ext cx="4754880" cy="1463040"/>
          </a:xfrm>
          <a:prstGeom prst="rect">
            <a:avLst/>
          </a:prstGeom>
          <a:noFill/>
          <a:ln/>
        </p:spPr>
        <p:txBody>
          <a:bodyPr wrap="square" lIns="0" tIns="0" rIns="0" bIns="0" rtlCol="0" anchor="ctr"/>
          <a:lstStyle/>
          <a:p>
            <a:pPr indent="0" marL="0">
              <a:buNone/>
            </a:pPr>
            <a:r>
              <a:rPr lang="en-US" sz="1300" dirty="0">
                <a:solidFill>
                  <a:srgbClr val="A7ADC6"/>
                </a:solidFill>
                <a:latin typeface="Inter" pitchFamily="34" charset="0"/>
                <a:ea typeface="Inter" pitchFamily="34" charset="-122"/>
                <a:cs typeface="Inter" pitchFamily="34" charset="-120"/>
              </a:rPr>
              <a:t>This is the rendered portfolio. Every card you see is built from a GitHub repository, optionally enriched with a per-repo YAML file. No CMS, no handwritten HTML.</a:t>
            </a:r>
            <a:endParaRPr lang="en-US" sz="1300" dirty="0"/>
          </a:p>
        </p:txBody>
      </p:sp>
      <p:sp>
        <p:nvSpPr>
          <p:cNvPr id="5" name="Shape 3"/>
          <p:cNvSpPr/>
          <p:nvPr/>
        </p:nvSpPr>
        <p:spPr>
          <a:xfrm>
            <a:off x="6334220" y="566928"/>
            <a:ext cx="1596200" cy="4078224"/>
          </a:xfrm>
          <a:prstGeom prst="rect">
            <a:avLst/>
          </a:prstGeom>
          <a:solidFill>
            <a:srgbClr val="1B2749"/>
          </a:solidFill>
          <a:ln w="9525">
            <a:solidFill>
              <a:srgbClr val="2A3660"/>
            </a:solidFill>
            <a:prstDash val="solid"/>
          </a:ln>
        </p:spPr>
      </p:sp>
      <p:pic>
        <p:nvPicPr>
          <p:cNvPr id="6" name="Image 0" descr="/sessions/sleepy-brave-cannon/mnt/portfolio/design-example/home_landing_page/screen.png">    </p:cNvPr>
          <p:cNvPicPr>
            <a:picLocks noChangeAspect="1"/>
          </p:cNvPicPr>
          <p:nvPr/>
        </p:nvPicPr>
        <p:blipFill>
          <a:blip r:embed="rId1"/>
          <a:stretch>
            <a:fillRect/>
          </a:stretch>
        </p:blipFill>
        <p:spPr>
          <a:xfrm>
            <a:off x="6407372" y="640080"/>
            <a:ext cx="1449896" cy="3931920"/>
          </a:xfrm>
          <a:prstGeom prst="rect">
            <a:avLst/>
          </a:prstGeom>
        </p:spPr>
      </p:pic>
      <p:sp>
        <p:nvSpPr>
          <p:cNvPr id="7" name="Shape 4"/>
          <p:cNvSpPr/>
          <p:nvPr/>
        </p:nvSpPr>
        <p:spPr>
          <a:xfrm>
            <a:off x="457200" y="4828032"/>
            <a:ext cx="8229600" cy="0"/>
          </a:xfrm>
          <a:prstGeom prst="line">
            <a:avLst/>
          </a:prstGeom>
          <a:noFill/>
          <a:ln w="9525">
            <a:solidFill>
              <a:srgbClr val="2A3660"/>
            </a:solidFill>
            <a:prstDash val="solid"/>
          </a:ln>
        </p:spPr>
      </p:sp>
      <p:sp>
        <p:nvSpPr>
          <p:cNvPr id="8" name="Text 5"/>
          <p:cNvSpPr/>
          <p:nvPr/>
        </p:nvSpPr>
        <p:spPr>
          <a:xfrm>
            <a:off x="457200" y="4864608"/>
            <a:ext cx="2743200" cy="228600"/>
          </a:xfrm>
          <a:prstGeom prst="rect">
            <a:avLst/>
          </a:prstGeom>
          <a:noFill/>
          <a:ln/>
        </p:spPr>
        <p:txBody>
          <a:bodyPr wrap="square" lIns="0" tIns="0" rIns="0" bIns="0" rtlCol="0" anchor="ctr"/>
          <a:lstStyle/>
          <a:p>
            <a:pPr indent="0" marL="0">
              <a:buNone/>
            </a:pPr>
            <a:r>
              <a:rPr lang="en-US" sz="800" b="1" spc="400" kern="0" dirty="0">
                <a:solidFill>
                  <a:srgbClr val="6E7699"/>
                </a:solidFill>
                <a:latin typeface="Space Grotesk" pitchFamily="34" charset="0"/>
                <a:ea typeface="Space Grotesk" pitchFamily="34" charset="-122"/>
                <a:cs typeface="Space Grotesk" pitchFamily="34" charset="-120"/>
              </a:rPr>
              <a:t>ARCHITECT.DEV</a:t>
            </a:r>
            <a:endParaRPr lang="en-US" sz="800" dirty="0"/>
          </a:p>
        </p:txBody>
      </p:sp>
      <p:sp>
        <p:nvSpPr>
          <p:cNvPr id="9" name="Text 6"/>
          <p:cNvSpPr/>
          <p:nvPr/>
        </p:nvSpPr>
        <p:spPr>
          <a:xfrm>
            <a:off x="6400800" y="4864608"/>
            <a:ext cx="2286000" cy="228600"/>
          </a:xfrm>
          <a:prstGeom prst="rect">
            <a:avLst/>
          </a:prstGeom>
          <a:noFill/>
          <a:ln/>
        </p:spPr>
        <p:txBody>
          <a:bodyPr wrap="square" lIns="0" tIns="0" rIns="0" bIns="0" rtlCol="0" anchor="ctr"/>
          <a:lstStyle/>
          <a:p>
            <a:pPr algn="r" indent="0" marL="0">
              <a:buNone/>
            </a:pPr>
            <a:r>
              <a:rPr lang="en-US" sz="800" dirty="0">
                <a:solidFill>
                  <a:srgbClr val="6E7699"/>
                </a:solidFill>
                <a:latin typeface="Space Grotesk" pitchFamily="34" charset="0"/>
                <a:ea typeface="Space Grotesk" pitchFamily="34" charset="-122"/>
                <a:cs typeface="Space Grotesk" pitchFamily="34" charset="-120"/>
              </a:rPr>
              <a:t>3 / 12</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326"/>
        </a:solidFill>
      </p:bgPr>
    </p:bg>
    <p:spTree>
      <p:nvGrpSpPr>
        <p:cNvPr id="1" name=""/>
        <p:cNvGrpSpPr/>
        <p:nvPr/>
      </p:nvGrpSpPr>
      <p:grpSpPr>
        <a:xfrm>
          <a:off x="0" y="0"/>
          <a:ext cx="0" cy="0"/>
          <a:chOff x="0" y="0"/>
          <a:chExt cx="0" cy="0"/>
        </a:xfrm>
      </p:grpSpPr>
      <p:sp>
        <p:nvSpPr>
          <p:cNvPr id="2" name="Text 0"/>
          <p:cNvSpPr/>
          <p:nvPr/>
        </p:nvSpPr>
        <p:spPr>
          <a:xfrm>
            <a:off x="457200" y="365760"/>
            <a:ext cx="8229600" cy="228600"/>
          </a:xfrm>
          <a:prstGeom prst="rect">
            <a:avLst/>
          </a:prstGeom>
          <a:noFill/>
          <a:ln/>
        </p:spPr>
        <p:txBody>
          <a:bodyPr wrap="square" lIns="0" tIns="0" rIns="0" bIns="0" rtlCol="0" anchor="ctr"/>
          <a:lstStyle/>
          <a:p>
            <a:pPr indent="0" marL="0">
              <a:buNone/>
            </a:pPr>
            <a:r>
              <a:rPr lang="en-US" sz="1000" b="1" spc="600" kern="0" dirty="0">
                <a:solidFill>
                  <a:srgbClr val="C0C1FF"/>
                </a:solidFill>
                <a:latin typeface="Space Grotesk" pitchFamily="34" charset="0"/>
                <a:ea typeface="Space Grotesk" pitchFamily="34" charset="-122"/>
                <a:cs typeface="Space Grotesk" pitchFamily="34" charset="-120"/>
              </a:rPr>
              <a:t>03 · ARCHITECTURE</a:t>
            </a:r>
            <a:endParaRPr lang="en-US" sz="1000" dirty="0"/>
          </a:p>
        </p:txBody>
      </p:sp>
      <p:sp>
        <p:nvSpPr>
          <p:cNvPr id="3" name="Text 1"/>
          <p:cNvSpPr/>
          <p:nvPr/>
        </p:nvSpPr>
        <p:spPr>
          <a:xfrm>
            <a:off x="457200" y="685800"/>
            <a:ext cx="8229600" cy="1188720"/>
          </a:xfrm>
          <a:prstGeom prst="rect">
            <a:avLst/>
          </a:prstGeom>
          <a:noFill/>
          <a:ln/>
        </p:spPr>
        <p:txBody>
          <a:bodyPr wrap="square" lIns="0" tIns="0" rIns="0" bIns="0" rtlCol="0" anchor="ctr"/>
          <a:lstStyle/>
          <a:p>
            <a:pPr indent="0" marL="0">
              <a:buNone/>
            </a:pPr>
            <a:r>
              <a:rPr lang="en-US" sz="3200" b="1" dirty="0">
                <a:solidFill>
                  <a:srgbClr val="FFFFFF"/>
                </a:solidFill>
                <a:latin typeface="Space Grotesk" pitchFamily="34" charset="0"/>
                <a:ea typeface="Space Grotesk" pitchFamily="34" charset="-122"/>
                <a:cs typeface="Space Grotesk" pitchFamily="34" charset="-120"/>
              </a:rPr>
              <a:t>Three pieces talk</a:t>
            </a:r>
            <a:endParaRPr lang="en-US" sz="3200" dirty="0"/>
          </a:p>
          <a:p>
            <a:pPr indent="0" marL="0">
              <a:buNone/>
            </a:pPr>
            <a:r>
              <a:rPr lang="en-US" sz="3200" b="1" dirty="0">
                <a:solidFill>
                  <a:srgbClr val="FFFFFF"/>
                </a:solidFill>
                <a:latin typeface="Space Grotesk" pitchFamily="34" charset="0"/>
                <a:ea typeface="Space Grotesk" pitchFamily="34" charset="-122"/>
                <a:cs typeface="Space Grotesk" pitchFamily="34" charset="-120"/>
              </a:rPr>
              <a:t>to each other.</a:t>
            </a:r>
            <a:endParaRPr lang="en-US" sz="3200" dirty="0"/>
          </a:p>
        </p:txBody>
      </p:sp>
      <p:sp>
        <p:nvSpPr>
          <p:cNvPr id="4" name="Shape 2"/>
          <p:cNvSpPr/>
          <p:nvPr/>
        </p:nvSpPr>
        <p:spPr>
          <a:xfrm>
            <a:off x="457200" y="2377440"/>
            <a:ext cx="2529840" cy="1554480"/>
          </a:xfrm>
          <a:prstGeom prst="rect">
            <a:avLst/>
          </a:prstGeom>
          <a:solidFill>
            <a:srgbClr val="1B2749"/>
          </a:solidFill>
          <a:ln w="9525">
            <a:solidFill>
              <a:srgbClr val="2A3660"/>
            </a:solidFill>
            <a:prstDash val="solid"/>
          </a:ln>
        </p:spPr>
      </p:sp>
      <p:sp>
        <p:nvSpPr>
          <p:cNvPr id="5" name="Shape 3"/>
          <p:cNvSpPr/>
          <p:nvPr/>
        </p:nvSpPr>
        <p:spPr>
          <a:xfrm>
            <a:off x="457200" y="2377440"/>
            <a:ext cx="2529840" cy="45720"/>
          </a:xfrm>
          <a:prstGeom prst="rect">
            <a:avLst/>
          </a:prstGeom>
          <a:solidFill>
            <a:srgbClr val="C0C1FF"/>
          </a:solidFill>
          <a:ln w="12700">
            <a:solidFill>
              <a:srgbClr val="C0C1FF"/>
            </a:solidFill>
            <a:prstDash val="solid"/>
          </a:ln>
        </p:spPr>
      </p:sp>
      <p:sp>
        <p:nvSpPr>
          <p:cNvPr id="6" name="Text 4"/>
          <p:cNvSpPr/>
          <p:nvPr/>
        </p:nvSpPr>
        <p:spPr>
          <a:xfrm>
            <a:off x="640080" y="2578608"/>
            <a:ext cx="2255520" cy="274320"/>
          </a:xfrm>
          <a:prstGeom prst="rect">
            <a:avLst/>
          </a:prstGeom>
          <a:noFill/>
          <a:ln/>
        </p:spPr>
        <p:txBody>
          <a:bodyPr wrap="square" lIns="0" tIns="0" rIns="0" bIns="0" rtlCol="0" anchor="ctr"/>
          <a:lstStyle/>
          <a:p>
            <a:pPr indent="0" marL="0">
              <a:buNone/>
            </a:pPr>
            <a:r>
              <a:rPr lang="en-US" sz="1000" b="1" spc="600" kern="0" dirty="0">
                <a:solidFill>
                  <a:srgbClr val="C0C1FF"/>
                </a:solidFill>
                <a:latin typeface="Space Grotesk" pitchFamily="34" charset="0"/>
                <a:ea typeface="Space Grotesk" pitchFamily="34" charset="-122"/>
                <a:cs typeface="Space Grotesk" pitchFamily="34" charset="-120"/>
              </a:rPr>
              <a:t>BROWSER</a:t>
            </a:r>
            <a:endParaRPr lang="en-US" sz="1000" dirty="0"/>
          </a:p>
        </p:txBody>
      </p:sp>
      <p:sp>
        <p:nvSpPr>
          <p:cNvPr id="7" name="Text 5"/>
          <p:cNvSpPr/>
          <p:nvPr/>
        </p:nvSpPr>
        <p:spPr>
          <a:xfrm>
            <a:off x="640080" y="2880360"/>
            <a:ext cx="2255520" cy="411480"/>
          </a:xfrm>
          <a:prstGeom prst="rect">
            <a:avLst/>
          </a:prstGeom>
          <a:noFill/>
          <a:ln/>
        </p:spPr>
        <p:txBody>
          <a:bodyPr wrap="square" lIns="0" tIns="0" rIns="0" bIns="0" rtlCol="0" anchor="ctr"/>
          <a:lstStyle/>
          <a:p>
            <a:pPr indent="0" marL="0">
              <a:buNone/>
            </a:pPr>
            <a:r>
              <a:rPr lang="en-US" sz="1800" b="1" dirty="0">
                <a:solidFill>
                  <a:srgbClr val="FFFFFF"/>
                </a:solidFill>
                <a:latin typeface="Space Grotesk" pitchFamily="34" charset="0"/>
                <a:ea typeface="Space Grotesk" pitchFamily="34" charset="-122"/>
                <a:cs typeface="Space Grotesk" pitchFamily="34" charset="-120"/>
              </a:rPr>
              <a:t>React + TS</a:t>
            </a:r>
            <a:endParaRPr lang="en-US" sz="1800" dirty="0"/>
          </a:p>
        </p:txBody>
      </p:sp>
      <p:sp>
        <p:nvSpPr>
          <p:cNvPr id="8" name="Text 6"/>
          <p:cNvSpPr/>
          <p:nvPr/>
        </p:nvSpPr>
        <p:spPr>
          <a:xfrm>
            <a:off x="640080" y="3337560"/>
            <a:ext cx="2255520" cy="548640"/>
          </a:xfrm>
          <a:prstGeom prst="rect">
            <a:avLst/>
          </a:prstGeom>
          <a:noFill/>
          <a:ln/>
        </p:spPr>
        <p:txBody>
          <a:bodyPr wrap="square" lIns="0" tIns="0" rIns="0" bIns="0" rtlCol="0" anchor="ctr"/>
          <a:lstStyle/>
          <a:p>
            <a:pPr indent="0" marL="0">
              <a:buNone/>
            </a:pPr>
            <a:r>
              <a:rPr lang="en-US" sz="1000" dirty="0">
                <a:solidFill>
                  <a:srgbClr val="A7ADC6"/>
                </a:solidFill>
                <a:latin typeface="Courier New" pitchFamily="34" charset="0"/>
                <a:ea typeface="Courier New" pitchFamily="34" charset="-122"/>
                <a:cs typeface="Courier New" pitchFamily="34" charset="-120"/>
              </a:rPr>
              <a:t>Vite dev server + build</a:t>
            </a:r>
            <a:endParaRPr lang="en-US" sz="1000" dirty="0"/>
          </a:p>
        </p:txBody>
      </p:sp>
      <p:sp>
        <p:nvSpPr>
          <p:cNvPr id="9" name="Shape 7"/>
          <p:cNvSpPr/>
          <p:nvPr/>
        </p:nvSpPr>
        <p:spPr>
          <a:xfrm>
            <a:off x="3307080" y="2377440"/>
            <a:ext cx="2529840" cy="1554480"/>
          </a:xfrm>
          <a:prstGeom prst="rect">
            <a:avLst/>
          </a:prstGeom>
          <a:solidFill>
            <a:srgbClr val="141F3D"/>
          </a:solidFill>
          <a:ln w="9525">
            <a:solidFill>
              <a:srgbClr val="2A3660"/>
            </a:solidFill>
            <a:prstDash val="solid"/>
          </a:ln>
        </p:spPr>
      </p:sp>
      <p:sp>
        <p:nvSpPr>
          <p:cNvPr id="10" name="Shape 8"/>
          <p:cNvSpPr/>
          <p:nvPr/>
        </p:nvSpPr>
        <p:spPr>
          <a:xfrm>
            <a:off x="3307080" y="2377440"/>
            <a:ext cx="2529840" cy="45720"/>
          </a:xfrm>
          <a:prstGeom prst="rect">
            <a:avLst/>
          </a:prstGeom>
          <a:solidFill>
            <a:srgbClr val="C0C1FF"/>
          </a:solidFill>
          <a:ln w="12700">
            <a:solidFill>
              <a:srgbClr val="C0C1FF"/>
            </a:solidFill>
            <a:prstDash val="solid"/>
          </a:ln>
        </p:spPr>
      </p:sp>
      <p:sp>
        <p:nvSpPr>
          <p:cNvPr id="11" name="Text 9"/>
          <p:cNvSpPr/>
          <p:nvPr/>
        </p:nvSpPr>
        <p:spPr>
          <a:xfrm>
            <a:off x="3489960" y="2578608"/>
            <a:ext cx="2255520" cy="274320"/>
          </a:xfrm>
          <a:prstGeom prst="rect">
            <a:avLst/>
          </a:prstGeom>
          <a:noFill/>
          <a:ln/>
        </p:spPr>
        <p:txBody>
          <a:bodyPr wrap="square" lIns="0" tIns="0" rIns="0" bIns="0" rtlCol="0" anchor="ctr"/>
          <a:lstStyle/>
          <a:p>
            <a:pPr indent="0" marL="0">
              <a:buNone/>
            </a:pPr>
            <a:r>
              <a:rPr lang="en-US" sz="1000" b="1" spc="600" kern="0" dirty="0">
                <a:solidFill>
                  <a:srgbClr val="C0C1FF"/>
                </a:solidFill>
                <a:latin typeface="Space Grotesk" pitchFamily="34" charset="0"/>
                <a:ea typeface="Space Grotesk" pitchFamily="34" charset="-122"/>
                <a:cs typeface="Space Grotesk" pitchFamily="34" charset="-120"/>
              </a:rPr>
              <a:t>SUPABASE</a:t>
            </a:r>
            <a:endParaRPr lang="en-US" sz="1000" dirty="0"/>
          </a:p>
        </p:txBody>
      </p:sp>
      <p:sp>
        <p:nvSpPr>
          <p:cNvPr id="12" name="Text 10"/>
          <p:cNvSpPr/>
          <p:nvPr/>
        </p:nvSpPr>
        <p:spPr>
          <a:xfrm>
            <a:off x="3489960" y="2880360"/>
            <a:ext cx="2255520" cy="411480"/>
          </a:xfrm>
          <a:prstGeom prst="rect">
            <a:avLst/>
          </a:prstGeom>
          <a:noFill/>
          <a:ln/>
        </p:spPr>
        <p:txBody>
          <a:bodyPr wrap="square" lIns="0" tIns="0" rIns="0" bIns="0" rtlCol="0" anchor="ctr"/>
          <a:lstStyle/>
          <a:p>
            <a:pPr indent="0" marL="0">
              <a:buNone/>
            </a:pPr>
            <a:r>
              <a:rPr lang="en-US" sz="1800" b="1" dirty="0">
                <a:solidFill>
                  <a:srgbClr val="FFFFFF"/>
                </a:solidFill>
                <a:latin typeface="Space Grotesk" pitchFamily="34" charset="0"/>
                <a:ea typeface="Space Grotesk" pitchFamily="34" charset="-122"/>
                <a:cs typeface="Space Grotesk" pitchFamily="34" charset="-120"/>
              </a:rPr>
              <a:t>Postgres + Auth</a:t>
            </a:r>
            <a:endParaRPr lang="en-US" sz="1800" dirty="0"/>
          </a:p>
        </p:txBody>
      </p:sp>
      <p:sp>
        <p:nvSpPr>
          <p:cNvPr id="13" name="Text 11"/>
          <p:cNvSpPr/>
          <p:nvPr/>
        </p:nvSpPr>
        <p:spPr>
          <a:xfrm>
            <a:off x="3489960" y="3337560"/>
            <a:ext cx="2255520" cy="548640"/>
          </a:xfrm>
          <a:prstGeom prst="rect">
            <a:avLst/>
          </a:prstGeom>
          <a:noFill/>
          <a:ln/>
        </p:spPr>
        <p:txBody>
          <a:bodyPr wrap="square" lIns="0" tIns="0" rIns="0" bIns="0" rtlCol="0" anchor="ctr"/>
          <a:lstStyle/>
          <a:p>
            <a:pPr indent="0" marL="0">
              <a:buNone/>
            </a:pPr>
            <a:r>
              <a:rPr lang="en-US" sz="1000" dirty="0">
                <a:solidFill>
                  <a:srgbClr val="A7ADC6"/>
                </a:solidFill>
                <a:latin typeface="Courier New" pitchFamily="34" charset="0"/>
                <a:ea typeface="Courier New" pitchFamily="34" charset="-122"/>
                <a:cs typeface="Courier New" pitchFamily="34" charset="-120"/>
              </a:rPr>
              <a:t>profiles · folders</a:t>
            </a:r>
            <a:endParaRPr lang="en-US" sz="1000" dirty="0"/>
          </a:p>
          <a:p>
            <a:pPr indent="0" marL="0">
              <a:buNone/>
            </a:pPr>
            <a:r>
              <a:rPr lang="en-US" sz="1000" dirty="0">
                <a:solidFill>
                  <a:srgbClr val="A7ADC6"/>
                </a:solidFill>
                <a:latin typeface="Courier New" pitchFamily="34" charset="0"/>
                <a:ea typeface="Courier New" pitchFamily="34" charset="-122"/>
                <a:cs typeface="Courier New" pitchFamily="34" charset="-120"/>
              </a:rPr>
              <a:t>items · cvs</a:t>
            </a:r>
            <a:endParaRPr lang="en-US" sz="1000" dirty="0"/>
          </a:p>
        </p:txBody>
      </p:sp>
      <p:sp>
        <p:nvSpPr>
          <p:cNvPr id="14" name="Shape 12"/>
          <p:cNvSpPr/>
          <p:nvPr/>
        </p:nvSpPr>
        <p:spPr>
          <a:xfrm>
            <a:off x="6156960" y="2377440"/>
            <a:ext cx="2529840" cy="1554480"/>
          </a:xfrm>
          <a:prstGeom prst="rect">
            <a:avLst/>
          </a:prstGeom>
          <a:solidFill>
            <a:srgbClr val="141F3D"/>
          </a:solidFill>
          <a:ln w="9525">
            <a:solidFill>
              <a:srgbClr val="2A3660"/>
            </a:solidFill>
            <a:prstDash val="solid"/>
          </a:ln>
        </p:spPr>
      </p:sp>
      <p:sp>
        <p:nvSpPr>
          <p:cNvPr id="15" name="Shape 13"/>
          <p:cNvSpPr/>
          <p:nvPr/>
        </p:nvSpPr>
        <p:spPr>
          <a:xfrm>
            <a:off x="6156960" y="2377440"/>
            <a:ext cx="2529840" cy="45720"/>
          </a:xfrm>
          <a:prstGeom prst="rect">
            <a:avLst/>
          </a:prstGeom>
          <a:solidFill>
            <a:srgbClr val="C0C1FF"/>
          </a:solidFill>
          <a:ln w="12700">
            <a:solidFill>
              <a:srgbClr val="C0C1FF"/>
            </a:solidFill>
            <a:prstDash val="solid"/>
          </a:ln>
        </p:spPr>
      </p:sp>
      <p:sp>
        <p:nvSpPr>
          <p:cNvPr id="16" name="Text 14"/>
          <p:cNvSpPr/>
          <p:nvPr/>
        </p:nvSpPr>
        <p:spPr>
          <a:xfrm>
            <a:off x="6339840" y="2578608"/>
            <a:ext cx="2255520" cy="274320"/>
          </a:xfrm>
          <a:prstGeom prst="rect">
            <a:avLst/>
          </a:prstGeom>
          <a:noFill/>
          <a:ln/>
        </p:spPr>
        <p:txBody>
          <a:bodyPr wrap="square" lIns="0" tIns="0" rIns="0" bIns="0" rtlCol="0" anchor="ctr"/>
          <a:lstStyle/>
          <a:p>
            <a:pPr indent="0" marL="0">
              <a:buNone/>
            </a:pPr>
            <a:r>
              <a:rPr lang="en-US" sz="1000" b="1" spc="600" kern="0" dirty="0">
                <a:solidFill>
                  <a:srgbClr val="C0C1FF"/>
                </a:solidFill>
                <a:latin typeface="Space Grotesk" pitchFamily="34" charset="0"/>
                <a:ea typeface="Space Grotesk" pitchFamily="34" charset="-122"/>
                <a:cs typeface="Space Grotesk" pitchFamily="34" charset="-120"/>
              </a:rPr>
              <a:t>GITHUB</a:t>
            </a:r>
            <a:endParaRPr lang="en-US" sz="1000" dirty="0"/>
          </a:p>
        </p:txBody>
      </p:sp>
      <p:sp>
        <p:nvSpPr>
          <p:cNvPr id="17" name="Text 15"/>
          <p:cNvSpPr/>
          <p:nvPr/>
        </p:nvSpPr>
        <p:spPr>
          <a:xfrm>
            <a:off x="6339840" y="2880360"/>
            <a:ext cx="2255520" cy="411480"/>
          </a:xfrm>
          <a:prstGeom prst="rect">
            <a:avLst/>
          </a:prstGeom>
          <a:noFill/>
          <a:ln/>
        </p:spPr>
        <p:txBody>
          <a:bodyPr wrap="square" lIns="0" tIns="0" rIns="0" bIns="0" rtlCol="0" anchor="ctr"/>
          <a:lstStyle/>
          <a:p>
            <a:pPr indent="0" marL="0">
              <a:buNone/>
            </a:pPr>
            <a:r>
              <a:rPr lang="en-US" sz="1800" b="1" dirty="0">
                <a:solidFill>
                  <a:srgbClr val="FFFFFF"/>
                </a:solidFill>
                <a:latin typeface="Space Grotesk" pitchFamily="34" charset="0"/>
                <a:ea typeface="Space Grotesk" pitchFamily="34" charset="-122"/>
                <a:cs typeface="Space Grotesk" pitchFamily="34" charset="-120"/>
              </a:rPr>
              <a:t>REST API</a:t>
            </a:r>
            <a:endParaRPr lang="en-US" sz="1800" dirty="0"/>
          </a:p>
        </p:txBody>
      </p:sp>
      <p:sp>
        <p:nvSpPr>
          <p:cNvPr id="18" name="Text 16"/>
          <p:cNvSpPr/>
          <p:nvPr/>
        </p:nvSpPr>
        <p:spPr>
          <a:xfrm>
            <a:off x="6339840" y="3337560"/>
            <a:ext cx="2255520" cy="548640"/>
          </a:xfrm>
          <a:prstGeom prst="rect">
            <a:avLst/>
          </a:prstGeom>
          <a:noFill/>
          <a:ln/>
        </p:spPr>
        <p:txBody>
          <a:bodyPr wrap="square" lIns="0" tIns="0" rIns="0" bIns="0" rtlCol="0" anchor="ctr"/>
          <a:lstStyle/>
          <a:p>
            <a:pPr indent="0" marL="0">
              <a:buNone/>
            </a:pPr>
            <a:r>
              <a:rPr lang="en-US" sz="1000" dirty="0">
                <a:solidFill>
                  <a:srgbClr val="A7ADC6"/>
                </a:solidFill>
                <a:latin typeface="Courier New" pitchFamily="34" charset="0"/>
                <a:ea typeface="Courier New" pitchFamily="34" charset="-122"/>
                <a:cs typeface="Courier New" pitchFamily="34" charset="-120"/>
              </a:rPr>
              <a:t>repos · profile</a:t>
            </a:r>
            <a:endParaRPr lang="en-US" sz="1000" dirty="0"/>
          </a:p>
          <a:p>
            <a:pPr indent="0" marL="0">
              <a:buNone/>
            </a:pPr>
            <a:r>
              <a:rPr lang="en-US" sz="1000" dirty="0">
                <a:solidFill>
                  <a:srgbClr val="A7ADC6"/>
                </a:solidFill>
                <a:latin typeface="Courier New" pitchFamily="34" charset="0"/>
                <a:ea typeface="Courier New" pitchFamily="34" charset="-122"/>
                <a:cs typeface="Courier New" pitchFamily="34" charset="-120"/>
              </a:rPr>
              <a:t>portfolio.yaml (raw)</a:t>
            </a:r>
            <a:endParaRPr lang="en-US" sz="1000" dirty="0"/>
          </a:p>
        </p:txBody>
      </p:sp>
      <p:sp>
        <p:nvSpPr>
          <p:cNvPr id="19" name="Shape 17"/>
          <p:cNvSpPr/>
          <p:nvPr/>
        </p:nvSpPr>
        <p:spPr>
          <a:xfrm>
            <a:off x="2987040" y="3154680"/>
            <a:ext cx="320040" cy="0"/>
          </a:xfrm>
          <a:prstGeom prst="line">
            <a:avLst/>
          </a:prstGeom>
          <a:noFill/>
          <a:ln w="15875">
            <a:solidFill>
              <a:srgbClr val="C0C1FF"/>
            </a:solidFill>
            <a:prstDash val="solid"/>
          </a:ln>
        </p:spPr>
      </p:sp>
      <p:sp>
        <p:nvSpPr>
          <p:cNvPr id="20" name="Shape 18"/>
          <p:cNvSpPr/>
          <p:nvPr/>
        </p:nvSpPr>
        <p:spPr>
          <a:xfrm>
            <a:off x="5836920" y="3154680"/>
            <a:ext cx="320040" cy="0"/>
          </a:xfrm>
          <a:prstGeom prst="line">
            <a:avLst/>
          </a:prstGeom>
          <a:noFill/>
          <a:ln w="15875">
            <a:solidFill>
              <a:srgbClr val="C0C1FF"/>
            </a:solidFill>
            <a:prstDash val="solid"/>
          </a:ln>
        </p:spPr>
      </p:sp>
      <p:sp>
        <p:nvSpPr>
          <p:cNvPr id="21" name="Text 19"/>
          <p:cNvSpPr/>
          <p:nvPr/>
        </p:nvSpPr>
        <p:spPr>
          <a:xfrm>
            <a:off x="457200" y="4206240"/>
            <a:ext cx="8229600" cy="548640"/>
          </a:xfrm>
          <a:prstGeom prst="rect">
            <a:avLst/>
          </a:prstGeom>
          <a:noFill/>
          <a:ln/>
        </p:spPr>
        <p:txBody>
          <a:bodyPr wrap="square" lIns="0" tIns="0" rIns="0" bIns="0" rtlCol="0" anchor="ctr"/>
          <a:lstStyle/>
          <a:p>
            <a:pPr indent="0" marL="0">
              <a:buNone/>
            </a:pPr>
            <a:r>
              <a:rPr lang="en-US" sz="1200" i="1" dirty="0">
                <a:solidFill>
                  <a:srgbClr val="A7ADC6"/>
                </a:solidFill>
                <a:latin typeface="Inter" pitchFamily="34" charset="0"/>
                <a:ea typeface="Inter" pitchFamily="34" charset="-122"/>
                <a:cs typeface="Inter" pitchFamily="34" charset="-120"/>
              </a:rPr>
              <a:t>The browser is the only piece I wrote from scratch. Supabase gives me auth + a Postgres database; GitHub gives me the project data.</a:t>
            </a:r>
            <a:endParaRPr lang="en-US" sz="1200" dirty="0"/>
          </a:p>
        </p:txBody>
      </p:sp>
      <p:sp>
        <p:nvSpPr>
          <p:cNvPr id="22" name="Shape 20"/>
          <p:cNvSpPr/>
          <p:nvPr/>
        </p:nvSpPr>
        <p:spPr>
          <a:xfrm>
            <a:off x="457200" y="4828032"/>
            <a:ext cx="8229600" cy="0"/>
          </a:xfrm>
          <a:prstGeom prst="line">
            <a:avLst/>
          </a:prstGeom>
          <a:noFill/>
          <a:ln w="9525">
            <a:solidFill>
              <a:srgbClr val="2A3660"/>
            </a:solidFill>
            <a:prstDash val="solid"/>
          </a:ln>
        </p:spPr>
      </p:sp>
      <p:sp>
        <p:nvSpPr>
          <p:cNvPr id="23" name="Text 21"/>
          <p:cNvSpPr/>
          <p:nvPr/>
        </p:nvSpPr>
        <p:spPr>
          <a:xfrm>
            <a:off x="457200" y="4864608"/>
            <a:ext cx="2743200" cy="228600"/>
          </a:xfrm>
          <a:prstGeom prst="rect">
            <a:avLst/>
          </a:prstGeom>
          <a:noFill/>
          <a:ln/>
        </p:spPr>
        <p:txBody>
          <a:bodyPr wrap="square" lIns="0" tIns="0" rIns="0" bIns="0" rtlCol="0" anchor="ctr"/>
          <a:lstStyle/>
          <a:p>
            <a:pPr indent="0" marL="0">
              <a:buNone/>
            </a:pPr>
            <a:r>
              <a:rPr lang="en-US" sz="800" b="1" spc="400" kern="0" dirty="0">
                <a:solidFill>
                  <a:srgbClr val="6E7699"/>
                </a:solidFill>
                <a:latin typeface="Space Grotesk" pitchFamily="34" charset="0"/>
                <a:ea typeface="Space Grotesk" pitchFamily="34" charset="-122"/>
                <a:cs typeface="Space Grotesk" pitchFamily="34" charset="-120"/>
              </a:rPr>
              <a:t>ARCHITECT.DEV</a:t>
            </a:r>
            <a:endParaRPr lang="en-US" sz="800" dirty="0"/>
          </a:p>
        </p:txBody>
      </p:sp>
      <p:sp>
        <p:nvSpPr>
          <p:cNvPr id="24" name="Text 22"/>
          <p:cNvSpPr/>
          <p:nvPr/>
        </p:nvSpPr>
        <p:spPr>
          <a:xfrm>
            <a:off x="6400800" y="4864608"/>
            <a:ext cx="2286000" cy="228600"/>
          </a:xfrm>
          <a:prstGeom prst="rect">
            <a:avLst/>
          </a:prstGeom>
          <a:noFill/>
          <a:ln/>
        </p:spPr>
        <p:txBody>
          <a:bodyPr wrap="square" lIns="0" tIns="0" rIns="0" bIns="0" rtlCol="0" anchor="ctr"/>
          <a:lstStyle/>
          <a:p>
            <a:pPr algn="r" indent="0" marL="0">
              <a:buNone/>
            </a:pPr>
            <a:r>
              <a:rPr lang="en-US" sz="800" dirty="0">
                <a:solidFill>
                  <a:srgbClr val="6E7699"/>
                </a:solidFill>
                <a:latin typeface="Space Grotesk" pitchFamily="34" charset="0"/>
                <a:ea typeface="Space Grotesk" pitchFamily="34" charset="-122"/>
                <a:cs typeface="Space Grotesk" pitchFamily="34" charset="-120"/>
              </a:rPr>
              <a:t>4 / 12</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326"/>
        </a:solidFill>
      </p:bgPr>
    </p:bg>
    <p:spTree>
      <p:nvGrpSpPr>
        <p:cNvPr id="1" name=""/>
        <p:cNvGrpSpPr/>
        <p:nvPr/>
      </p:nvGrpSpPr>
      <p:grpSpPr>
        <a:xfrm>
          <a:off x="0" y="0"/>
          <a:ext cx="0" cy="0"/>
          <a:chOff x="0" y="0"/>
          <a:chExt cx="0" cy="0"/>
        </a:xfrm>
      </p:grpSpPr>
      <p:sp>
        <p:nvSpPr>
          <p:cNvPr id="2" name="Text 0"/>
          <p:cNvSpPr/>
          <p:nvPr/>
        </p:nvSpPr>
        <p:spPr>
          <a:xfrm>
            <a:off x="457200" y="365760"/>
            <a:ext cx="8229600" cy="228600"/>
          </a:xfrm>
          <a:prstGeom prst="rect">
            <a:avLst/>
          </a:prstGeom>
          <a:noFill/>
          <a:ln/>
        </p:spPr>
        <p:txBody>
          <a:bodyPr wrap="square" lIns="0" tIns="0" rIns="0" bIns="0" rtlCol="0" anchor="ctr"/>
          <a:lstStyle/>
          <a:p>
            <a:pPr indent="0" marL="0">
              <a:buNone/>
            </a:pPr>
            <a:r>
              <a:rPr lang="en-US" sz="1000" b="1" spc="600" kern="0" dirty="0">
                <a:solidFill>
                  <a:srgbClr val="C0C1FF"/>
                </a:solidFill>
                <a:latin typeface="Space Grotesk" pitchFamily="34" charset="0"/>
                <a:ea typeface="Space Grotesk" pitchFamily="34" charset="-122"/>
                <a:cs typeface="Space Grotesk" pitchFamily="34" charset="-120"/>
              </a:rPr>
              <a:t>04 · FRONTEND</a:t>
            </a:r>
            <a:endParaRPr lang="en-US" sz="1000" dirty="0"/>
          </a:p>
        </p:txBody>
      </p:sp>
      <p:sp>
        <p:nvSpPr>
          <p:cNvPr id="3" name="Text 1"/>
          <p:cNvSpPr/>
          <p:nvPr/>
        </p:nvSpPr>
        <p:spPr>
          <a:xfrm>
            <a:off x="457200" y="685800"/>
            <a:ext cx="8229600" cy="1188720"/>
          </a:xfrm>
          <a:prstGeom prst="rect">
            <a:avLst/>
          </a:prstGeom>
          <a:noFill/>
          <a:ln/>
        </p:spPr>
        <p:txBody>
          <a:bodyPr wrap="square" lIns="0" tIns="0" rIns="0" bIns="0" rtlCol="0" anchor="ctr"/>
          <a:lstStyle/>
          <a:p>
            <a:pPr indent="0" marL="0">
              <a:buNone/>
            </a:pPr>
            <a:r>
              <a:rPr lang="en-US" sz="3000" b="1" dirty="0">
                <a:solidFill>
                  <a:srgbClr val="FFFFFF"/>
                </a:solidFill>
                <a:latin typeface="Space Grotesk" pitchFamily="34" charset="0"/>
                <a:ea typeface="Space Grotesk" pitchFamily="34" charset="-122"/>
                <a:cs typeface="Space Grotesk" pitchFamily="34" charset="-120"/>
              </a:rPr>
              <a:t>React + TypeScript,</a:t>
            </a:r>
            <a:endParaRPr lang="en-US" sz="3000" dirty="0"/>
          </a:p>
          <a:p>
            <a:pPr indent="0" marL="0">
              <a:buNone/>
            </a:pPr>
            <a:r>
              <a:rPr lang="en-US" sz="3000" b="1" dirty="0">
                <a:solidFill>
                  <a:srgbClr val="FFFFFF"/>
                </a:solidFill>
                <a:latin typeface="Space Grotesk" pitchFamily="34" charset="0"/>
                <a:ea typeface="Space Grotesk" pitchFamily="34" charset="-122"/>
                <a:cs typeface="Space Grotesk" pitchFamily="34" charset="-120"/>
              </a:rPr>
              <a:t>built with Vite.</a:t>
            </a:r>
            <a:endParaRPr lang="en-US" sz="3000" dirty="0"/>
          </a:p>
        </p:txBody>
      </p:sp>
      <p:sp>
        <p:nvSpPr>
          <p:cNvPr id="4" name="Shape 2"/>
          <p:cNvSpPr/>
          <p:nvPr/>
        </p:nvSpPr>
        <p:spPr>
          <a:xfrm>
            <a:off x="457200" y="2331720"/>
            <a:ext cx="1554480" cy="411480"/>
          </a:xfrm>
          <a:prstGeom prst="rect">
            <a:avLst/>
          </a:prstGeom>
          <a:solidFill>
            <a:srgbClr val="141F3D"/>
          </a:solidFill>
          <a:ln w="9525">
            <a:solidFill>
              <a:srgbClr val="2A3660"/>
            </a:solidFill>
            <a:prstDash val="solid"/>
          </a:ln>
        </p:spPr>
      </p:sp>
      <p:sp>
        <p:nvSpPr>
          <p:cNvPr id="5" name="Text 3"/>
          <p:cNvSpPr/>
          <p:nvPr/>
        </p:nvSpPr>
        <p:spPr>
          <a:xfrm>
            <a:off x="457200" y="2331720"/>
            <a:ext cx="155448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Space Grotesk" pitchFamily="34" charset="0"/>
                <a:ea typeface="Space Grotesk" pitchFamily="34" charset="-122"/>
                <a:cs typeface="Space Grotesk" pitchFamily="34" charset="-120"/>
              </a:rPr>
              <a:t>React 19</a:t>
            </a:r>
            <a:endParaRPr lang="en-US" sz="1100" dirty="0"/>
          </a:p>
        </p:txBody>
      </p:sp>
      <p:sp>
        <p:nvSpPr>
          <p:cNvPr id="6" name="Shape 4"/>
          <p:cNvSpPr/>
          <p:nvPr/>
        </p:nvSpPr>
        <p:spPr>
          <a:xfrm>
            <a:off x="2148840" y="2331720"/>
            <a:ext cx="1554480" cy="411480"/>
          </a:xfrm>
          <a:prstGeom prst="rect">
            <a:avLst/>
          </a:prstGeom>
          <a:solidFill>
            <a:srgbClr val="141F3D"/>
          </a:solidFill>
          <a:ln w="9525">
            <a:solidFill>
              <a:srgbClr val="2A3660"/>
            </a:solidFill>
            <a:prstDash val="solid"/>
          </a:ln>
        </p:spPr>
      </p:sp>
      <p:sp>
        <p:nvSpPr>
          <p:cNvPr id="7" name="Text 5"/>
          <p:cNvSpPr/>
          <p:nvPr/>
        </p:nvSpPr>
        <p:spPr>
          <a:xfrm>
            <a:off x="2148840" y="2331720"/>
            <a:ext cx="155448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Space Grotesk" pitchFamily="34" charset="0"/>
                <a:ea typeface="Space Grotesk" pitchFamily="34" charset="-122"/>
                <a:cs typeface="Space Grotesk" pitchFamily="34" charset="-120"/>
              </a:rPr>
              <a:t>TypeScript</a:t>
            </a:r>
            <a:endParaRPr lang="en-US" sz="1100" dirty="0"/>
          </a:p>
        </p:txBody>
      </p:sp>
      <p:sp>
        <p:nvSpPr>
          <p:cNvPr id="8" name="Shape 6"/>
          <p:cNvSpPr/>
          <p:nvPr/>
        </p:nvSpPr>
        <p:spPr>
          <a:xfrm>
            <a:off x="457200" y="2880360"/>
            <a:ext cx="1554480" cy="411480"/>
          </a:xfrm>
          <a:prstGeom prst="rect">
            <a:avLst/>
          </a:prstGeom>
          <a:solidFill>
            <a:srgbClr val="141F3D"/>
          </a:solidFill>
          <a:ln w="9525">
            <a:solidFill>
              <a:srgbClr val="2A3660"/>
            </a:solidFill>
            <a:prstDash val="solid"/>
          </a:ln>
        </p:spPr>
      </p:sp>
      <p:sp>
        <p:nvSpPr>
          <p:cNvPr id="9" name="Text 7"/>
          <p:cNvSpPr/>
          <p:nvPr/>
        </p:nvSpPr>
        <p:spPr>
          <a:xfrm>
            <a:off x="457200" y="2880360"/>
            <a:ext cx="155448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Space Grotesk" pitchFamily="34" charset="0"/>
                <a:ea typeface="Space Grotesk" pitchFamily="34" charset="-122"/>
                <a:cs typeface="Space Grotesk" pitchFamily="34" charset="-120"/>
              </a:rPr>
              <a:t>Vite 7</a:t>
            </a:r>
            <a:endParaRPr lang="en-US" sz="1100" dirty="0"/>
          </a:p>
        </p:txBody>
      </p:sp>
      <p:sp>
        <p:nvSpPr>
          <p:cNvPr id="10" name="Shape 8"/>
          <p:cNvSpPr/>
          <p:nvPr/>
        </p:nvSpPr>
        <p:spPr>
          <a:xfrm>
            <a:off x="2148840" y="2880360"/>
            <a:ext cx="1554480" cy="411480"/>
          </a:xfrm>
          <a:prstGeom prst="rect">
            <a:avLst/>
          </a:prstGeom>
          <a:solidFill>
            <a:srgbClr val="141F3D"/>
          </a:solidFill>
          <a:ln w="9525">
            <a:solidFill>
              <a:srgbClr val="2A3660"/>
            </a:solidFill>
            <a:prstDash val="solid"/>
          </a:ln>
        </p:spPr>
      </p:sp>
      <p:sp>
        <p:nvSpPr>
          <p:cNvPr id="11" name="Text 9"/>
          <p:cNvSpPr/>
          <p:nvPr/>
        </p:nvSpPr>
        <p:spPr>
          <a:xfrm>
            <a:off x="2148840" y="2880360"/>
            <a:ext cx="1554480"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Space Grotesk" pitchFamily="34" charset="0"/>
                <a:ea typeface="Space Grotesk" pitchFamily="34" charset="-122"/>
                <a:cs typeface="Space Grotesk" pitchFamily="34" charset="-120"/>
              </a:rPr>
              <a:t>No router lib</a:t>
            </a:r>
            <a:endParaRPr lang="en-US" sz="1100" dirty="0"/>
          </a:p>
        </p:txBody>
      </p:sp>
      <p:sp>
        <p:nvSpPr>
          <p:cNvPr id="12" name="Text 10"/>
          <p:cNvSpPr/>
          <p:nvPr/>
        </p:nvSpPr>
        <p:spPr>
          <a:xfrm>
            <a:off x="4754880" y="2148840"/>
            <a:ext cx="3931920" cy="320040"/>
          </a:xfrm>
          <a:prstGeom prst="rect">
            <a:avLst/>
          </a:prstGeom>
          <a:noFill/>
          <a:ln/>
        </p:spPr>
        <p:txBody>
          <a:bodyPr wrap="square" lIns="0" tIns="0" rIns="0" bIns="0" rtlCol="0" anchor="ctr"/>
          <a:lstStyle/>
          <a:p>
            <a:pPr indent="0" marL="0">
              <a:buNone/>
            </a:pPr>
            <a:r>
              <a:rPr lang="en-US" sz="1300" b="1" spc="400" kern="0" dirty="0">
                <a:solidFill>
                  <a:srgbClr val="C0C1FF"/>
                </a:solidFill>
                <a:latin typeface="Space Grotesk" pitchFamily="34" charset="0"/>
                <a:ea typeface="Space Grotesk" pitchFamily="34" charset="-122"/>
                <a:cs typeface="Space Grotesk" pitchFamily="34" charset="-120"/>
              </a:rPr>
              <a:t>How it's used</a:t>
            </a:r>
            <a:endParaRPr lang="en-US" sz="1300" dirty="0"/>
          </a:p>
        </p:txBody>
      </p:sp>
      <p:sp>
        <p:nvSpPr>
          <p:cNvPr id="13" name="Shape 11"/>
          <p:cNvSpPr/>
          <p:nvPr/>
        </p:nvSpPr>
        <p:spPr>
          <a:xfrm>
            <a:off x="4754880" y="2624328"/>
            <a:ext cx="91440" cy="91440"/>
          </a:xfrm>
          <a:prstGeom prst="ellipse">
            <a:avLst/>
          </a:prstGeom>
          <a:solidFill>
            <a:srgbClr val="C0C1FF"/>
          </a:solidFill>
          <a:ln w="12700">
            <a:solidFill>
              <a:srgbClr val="C0C1FF"/>
            </a:solidFill>
            <a:prstDash val="solid"/>
          </a:ln>
        </p:spPr>
      </p:sp>
      <p:sp>
        <p:nvSpPr>
          <p:cNvPr id="14" name="Text 12"/>
          <p:cNvSpPr/>
          <p:nvPr/>
        </p:nvSpPr>
        <p:spPr>
          <a:xfrm>
            <a:off x="4937760" y="2514600"/>
            <a:ext cx="3749040" cy="274320"/>
          </a:xfrm>
          <a:prstGeom prst="rect">
            <a:avLst/>
          </a:prstGeom>
          <a:noFill/>
          <a:ln/>
        </p:spPr>
        <p:txBody>
          <a:bodyPr wrap="square" lIns="0" tIns="0" rIns="0" bIns="0" rtlCol="0" anchor="ctr"/>
          <a:lstStyle/>
          <a:p>
            <a:pPr indent="0" marL="0">
              <a:buNone/>
            </a:pPr>
            <a:r>
              <a:rPr lang="en-US" sz="1300" b="1" dirty="0">
                <a:solidFill>
                  <a:srgbClr val="FFFFFF"/>
                </a:solidFill>
                <a:latin typeface="Space Grotesk" pitchFamily="34" charset="0"/>
                <a:ea typeface="Space Grotesk" pitchFamily="34" charset="-122"/>
                <a:cs typeface="Space Grotesk" pitchFamily="34" charset="-120"/>
              </a:rPr>
              <a:t>~12 components</a:t>
            </a:r>
            <a:endParaRPr lang="en-US" sz="1300" dirty="0"/>
          </a:p>
        </p:txBody>
      </p:sp>
      <p:sp>
        <p:nvSpPr>
          <p:cNvPr id="15" name="Text 13"/>
          <p:cNvSpPr/>
          <p:nvPr/>
        </p:nvSpPr>
        <p:spPr>
          <a:xfrm>
            <a:off x="4937760" y="2788920"/>
            <a:ext cx="3749040" cy="320040"/>
          </a:xfrm>
          <a:prstGeom prst="rect">
            <a:avLst/>
          </a:prstGeom>
          <a:noFill/>
          <a:ln/>
        </p:spPr>
        <p:txBody>
          <a:bodyPr wrap="square" lIns="0" tIns="0" rIns="0" bIns="0" rtlCol="0" anchor="ctr"/>
          <a:lstStyle/>
          <a:p>
            <a:pPr indent="0" marL="0">
              <a:buNone/>
            </a:pPr>
            <a:r>
              <a:rPr lang="en-US" sz="1050" dirty="0">
                <a:solidFill>
                  <a:srgbClr val="A7ADC6"/>
                </a:solidFill>
                <a:latin typeface="Inter" pitchFamily="34" charset="0"/>
                <a:ea typeface="Inter" pitchFamily="34" charset="-122"/>
                <a:cs typeface="Inter" pitchFamily="34" charset="-120"/>
              </a:rPr>
              <a:t>Page-level: HomePage, UserPage, CvPage, MyPagesPage. Plus ProjectCard, UserTabs, CvEdit.</a:t>
            </a:r>
            <a:endParaRPr lang="en-US" sz="1050" dirty="0"/>
          </a:p>
        </p:txBody>
      </p:sp>
      <p:sp>
        <p:nvSpPr>
          <p:cNvPr id="16" name="Shape 14"/>
          <p:cNvSpPr/>
          <p:nvPr/>
        </p:nvSpPr>
        <p:spPr>
          <a:xfrm>
            <a:off x="4754880" y="3191256"/>
            <a:ext cx="91440" cy="91440"/>
          </a:xfrm>
          <a:prstGeom prst="ellipse">
            <a:avLst/>
          </a:prstGeom>
          <a:solidFill>
            <a:srgbClr val="C0C1FF"/>
          </a:solidFill>
          <a:ln w="12700">
            <a:solidFill>
              <a:srgbClr val="C0C1FF"/>
            </a:solidFill>
            <a:prstDash val="solid"/>
          </a:ln>
        </p:spPr>
      </p:sp>
      <p:sp>
        <p:nvSpPr>
          <p:cNvPr id="17" name="Text 15"/>
          <p:cNvSpPr/>
          <p:nvPr/>
        </p:nvSpPr>
        <p:spPr>
          <a:xfrm>
            <a:off x="4937760" y="3081528"/>
            <a:ext cx="3749040" cy="274320"/>
          </a:xfrm>
          <a:prstGeom prst="rect">
            <a:avLst/>
          </a:prstGeom>
          <a:noFill/>
          <a:ln/>
        </p:spPr>
        <p:txBody>
          <a:bodyPr wrap="square" lIns="0" tIns="0" rIns="0" bIns="0" rtlCol="0" anchor="ctr"/>
          <a:lstStyle/>
          <a:p>
            <a:pPr indent="0" marL="0">
              <a:buNone/>
            </a:pPr>
            <a:r>
              <a:rPr lang="en-US" sz="1300" b="1" dirty="0">
                <a:solidFill>
                  <a:srgbClr val="FFFFFF"/>
                </a:solidFill>
                <a:latin typeface="Space Grotesk" pitchFamily="34" charset="0"/>
                <a:ea typeface="Space Grotesk" pitchFamily="34" charset="-122"/>
                <a:cs typeface="Space Grotesk" pitchFamily="34" charset="-120"/>
              </a:rPr>
              <a:t>Hash routing</a:t>
            </a:r>
            <a:endParaRPr lang="en-US" sz="1300" dirty="0"/>
          </a:p>
        </p:txBody>
      </p:sp>
      <p:sp>
        <p:nvSpPr>
          <p:cNvPr id="18" name="Text 16"/>
          <p:cNvSpPr/>
          <p:nvPr/>
        </p:nvSpPr>
        <p:spPr>
          <a:xfrm>
            <a:off x="4937760" y="3355848"/>
            <a:ext cx="3749040" cy="320040"/>
          </a:xfrm>
          <a:prstGeom prst="rect">
            <a:avLst/>
          </a:prstGeom>
          <a:noFill/>
          <a:ln/>
        </p:spPr>
        <p:txBody>
          <a:bodyPr wrap="square" lIns="0" tIns="0" rIns="0" bIns="0" rtlCol="0" anchor="ctr"/>
          <a:lstStyle/>
          <a:p>
            <a:pPr indent="0" marL="0">
              <a:buNone/>
            </a:pPr>
            <a:r>
              <a:rPr lang="en-US" sz="1050" dirty="0">
                <a:solidFill>
                  <a:srgbClr val="A7ADC6"/>
                </a:solidFill>
                <a:latin typeface="Inter" pitchFamily="34" charset="0"/>
                <a:ea typeface="Inter" pitchFamily="34" charset="-122"/>
                <a:cs typeface="Inter" pitchFamily="34" charset="-120"/>
              </a:rPr>
              <a:t>useSyncExternalStore listens to hashchange — no react-router dependency.</a:t>
            </a:r>
            <a:endParaRPr lang="en-US" sz="1050" dirty="0"/>
          </a:p>
        </p:txBody>
      </p:sp>
      <p:sp>
        <p:nvSpPr>
          <p:cNvPr id="19" name="Shape 17"/>
          <p:cNvSpPr/>
          <p:nvPr/>
        </p:nvSpPr>
        <p:spPr>
          <a:xfrm>
            <a:off x="4754880" y="3758184"/>
            <a:ext cx="91440" cy="91440"/>
          </a:xfrm>
          <a:prstGeom prst="ellipse">
            <a:avLst/>
          </a:prstGeom>
          <a:solidFill>
            <a:srgbClr val="C0C1FF"/>
          </a:solidFill>
          <a:ln w="12700">
            <a:solidFill>
              <a:srgbClr val="C0C1FF"/>
            </a:solidFill>
            <a:prstDash val="solid"/>
          </a:ln>
        </p:spPr>
      </p:sp>
      <p:sp>
        <p:nvSpPr>
          <p:cNvPr id="20" name="Text 18"/>
          <p:cNvSpPr/>
          <p:nvPr/>
        </p:nvSpPr>
        <p:spPr>
          <a:xfrm>
            <a:off x="4937760" y="3648456"/>
            <a:ext cx="3749040" cy="274320"/>
          </a:xfrm>
          <a:prstGeom prst="rect">
            <a:avLst/>
          </a:prstGeom>
          <a:noFill/>
          <a:ln/>
        </p:spPr>
        <p:txBody>
          <a:bodyPr wrap="square" lIns="0" tIns="0" rIns="0" bIns="0" rtlCol="0" anchor="ctr"/>
          <a:lstStyle/>
          <a:p>
            <a:pPr indent="0" marL="0">
              <a:buNone/>
            </a:pPr>
            <a:r>
              <a:rPr lang="en-US" sz="1300" b="1" dirty="0">
                <a:solidFill>
                  <a:srgbClr val="FFFFFF"/>
                </a:solidFill>
                <a:latin typeface="Space Grotesk" pitchFamily="34" charset="0"/>
                <a:ea typeface="Space Grotesk" pitchFamily="34" charset="-122"/>
                <a:cs typeface="Space Grotesk" pitchFamily="34" charset="-120"/>
              </a:rPr>
              <a:t>Hook-driven state</a:t>
            </a:r>
            <a:endParaRPr lang="en-US" sz="1300" dirty="0"/>
          </a:p>
        </p:txBody>
      </p:sp>
      <p:sp>
        <p:nvSpPr>
          <p:cNvPr id="21" name="Text 19"/>
          <p:cNvSpPr/>
          <p:nvPr/>
        </p:nvSpPr>
        <p:spPr>
          <a:xfrm>
            <a:off x="4937760" y="3922776"/>
            <a:ext cx="3749040" cy="320040"/>
          </a:xfrm>
          <a:prstGeom prst="rect">
            <a:avLst/>
          </a:prstGeom>
          <a:noFill/>
          <a:ln/>
        </p:spPr>
        <p:txBody>
          <a:bodyPr wrap="square" lIns="0" tIns="0" rIns="0" bIns="0" rtlCol="0" anchor="ctr"/>
          <a:lstStyle/>
          <a:p>
            <a:pPr indent="0" marL="0">
              <a:buNone/>
            </a:pPr>
            <a:r>
              <a:rPr lang="en-US" sz="1050" dirty="0">
                <a:solidFill>
                  <a:srgbClr val="A7ADC6"/>
                </a:solidFill>
                <a:latin typeface="Inter" pitchFamily="34" charset="0"/>
                <a:ea typeface="Inter" pitchFamily="34" charset="-122"/>
                <a:cs typeface="Inter" pitchFamily="34" charset="-120"/>
              </a:rPr>
              <a:t>useState + useEffect + useMemo + useTransition. No Redux, no Context.</a:t>
            </a:r>
            <a:endParaRPr lang="en-US" sz="1050" dirty="0"/>
          </a:p>
        </p:txBody>
      </p:sp>
      <p:sp>
        <p:nvSpPr>
          <p:cNvPr id="22" name="Shape 20"/>
          <p:cNvSpPr/>
          <p:nvPr/>
        </p:nvSpPr>
        <p:spPr>
          <a:xfrm>
            <a:off x="4754880" y="4325112"/>
            <a:ext cx="91440" cy="91440"/>
          </a:xfrm>
          <a:prstGeom prst="ellipse">
            <a:avLst/>
          </a:prstGeom>
          <a:solidFill>
            <a:srgbClr val="C0C1FF"/>
          </a:solidFill>
          <a:ln w="12700">
            <a:solidFill>
              <a:srgbClr val="C0C1FF"/>
            </a:solidFill>
            <a:prstDash val="solid"/>
          </a:ln>
        </p:spPr>
      </p:sp>
      <p:sp>
        <p:nvSpPr>
          <p:cNvPr id="23" name="Text 21"/>
          <p:cNvSpPr/>
          <p:nvPr/>
        </p:nvSpPr>
        <p:spPr>
          <a:xfrm>
            <a:off x="4937760" y="4215384"/>
            <a:ext cx="3749040" cy="274320"/>
          </a:xfrm>
          <a:prstGeom prst="rect">
            <a:avLst/>
          </a:prstGeom>
          <a:noFill/>
          <a:ln/>
        </p:spPr>
        <p:txBody>
          <a:bodyPr wrap="square" lIns="0" tIns="0" rIns="0" bIns="0" rtlCol="0" anchor="ctr"/>
          <a:lstStyle/>
          <a:p>
            <a:pPr indent="0" marL="0">
              <a:buNone/>
            </a:pPr>
            <a:r>
              <a:rPr lang="en-US" sz="1300" b="1" dirty="0">
                <a:solidFill>
                  <a:srgbClr val="FFFFFF"/>
                </a:solidFill>
                <a:latin typeface="Space Grotesk" pitchFamily="34" charset="0"/>
                <a:ea typeface="Space Grotesk" pitchFamily="34" charset="-122"/>
                <a:cs typeface="Space Grotesk" pitchFamily="34" charset="-120"/>
              </a:rPr>
              <a:t>Types near data</a:t>
            </a:r>
            <a:endParaRPr lang="en-US" sz="1300" dirty="0"/>
          </a:p>
        </p:txBody>
      </p:sp>
      <p:sp>
        <p:nvSpPr>
          <p:cNvPr id="24" name="Text 22"/>
          <p:cNvSpPr/>
          <p:nvPr/>
        </p:nvSpPr>
        <p:spPr>
          <a:xfrm>
            <a:off x="4937760" y="4489704"/>
            <a:ext cx="3749040" cy="320040"/>
          </a:xfrm>
          <a:prstGeom prst="rect">
            <a:avLst/>
          </a:prstGeom>
          <a:noFill/>
          <a:ln/>
        </p:spPr>
        <p:txBody>
          <a:bodyPr wrap="square" lIns="0" tIns="0" rIns="0" bIns="0" rtlCol="0" anchor="ctr"/>
          <a:lstStyle/>
          <a:p>
            <a:pPr indent="0" marL="0">
              <a:buNone/>
            </a:pPr>
            <a:r>
              <a:rPr lang="en-US" sz="1050" dirty="0">
                <a:solidFill>
                  <a:srgbClr val="A7ADC6"/>
                </a:solidFill>
                <a:latin typeface="Inter" pitchFamily="34" charset="0"/>
                <a:ea typeface="Inter" pitchFamily="34" charset="-122"/>
                <a:cs typeface="Inter" pitchFamily="34" charset="-120"/>
              </a:rPr>
              <a:t>Profile, PortfolioItem, Project, Cv defined in lib/ alongside fetch functions.</a:t>
            </a:r>
            <a:endParaRPr lang="en-US" sz="1050" dirty="0"/>
          </a:p>
        </p:txBody>
      </p:sp>
      <p:sp>
        <p:nvSpPr>
          <p:cNvPr id="25" name="Text 23"/>
          <p:cNvSpPr/>
          <p:nvPr/>
        </p:nvSpPr>
        <p:spPr>
          <a:xfrm>
            <a:off x="457200" y="3520440"/>
            <a:ext cx="3931920" cy="320040"/>
          </a:xfrm>
          <a:prstGeom prst="rect">
            <a:avLst/>
          </a:prstGeom>
          <a:noFill/>
          <a:ln/>
        </p:spPr>
        <p:txBody>
          <a:bodyPr wrap="square" lIns="0" tIns="0" rIns="0" bIns="0" rtlCol="0" anchor="ctr"/>
          <a:lstStyle/>
          <a:p>
            <a:pPr indent="0" marL="0">
              <a:buNone/>
            </a:pPr>
            <a:r>
              <a:rPr lang="en-US" sz="1300" b="1" spc="400" kern="0" dirty="0">
                <a:solidFill>
                  <a:srgbClr val="C0C1FF"/>
                </a:solidFill>
                <a:latin typeface="Space Grotesk" pitchFamily="34" charset="0"/>
                <a:ea typeface="Space Grotesk" pitchFamily="34" charset="-122"/>
                <a:cs typeface="Space Grotesk" pitchFamily="34" charset="-120"/>
              </a:rPr>
              <a:t>Why these choices</a:t>
            </a:r>
            <a:endParaRPr lang="en-US" sz="1300" dirty="0"/>
          </a:p>
        </p:txBody>
      </p:sp>
      <p:sp>
        <p:nvSpPr>
          <p:cNvPr id="26" name="Text 24"/>
          <p:cNvSpPr/>
          <p:nvPr/>
        </p:nvSpPr>
        <p:spPr>
          <a:xfrm>
            <a:off x="457200" y="3886200"/>
            <a:ext cx="3931920" cy="868680"/>
          </a:xfrm>
          <a:prstGeom prst="rect">
            <a:avLst/>
          </a:prstGeom>
          <a:noFill/>
          <a:ln/>
        </p:spPr>
        <p:txBody>
          <a:bodyPr wrap="square" lIns="0" tIns="0" rIns="0" bIns="0" rtlCol="0" anchor="ctr"/>
          <a:lstStyle/>
          <a:p>
            <a:pPr indent="0" marL="0">
              <a:buNone/>
            </a:pPr>
            <a:r>
              <a:rPr lang="en-US" sz="1150" dirty="0">
                <a:solidFill>
                  <a:srgbClr val="A7ADC6"/>
                </a:solidFill>
                <a:latin typeface="Inter" pitchFamily="34" charset="0"/>
                <a:ea typeface="Inter" pitchFamily="34" charset="-122"/>
                <a:cs typeface="Inter" pitchFamily="34" charset="-120"/>
              </a:rPr>
              <a:t>Vite gives instant hot-reload and tiny production bundles. TypeScript catches shape mismatches between GitHub, Supabase, and the UI — which is where most bugs would live.</a:t>
            </a:r>
            <a:endParaRPr lang="en-US" sz="1150" dirty="0"/>
          </a:p>
        </p:txBody>
      </p:sp>
      <p:sp>
        <p:nvSpPr>
          <p:cNvPr id="27" name="Shape 25"/>
          <p:cNvSpPr/>
          <p:nvPr/>
        </p:nvSpPr>
        <p:spPr>
          <a:xfrm>
            <a:off x="457200" y="4828032"/>
            <a:ext cx="8229600" cy="0"/>
          </a:xfrm>
          <a:prstGeom prst="line">
            <a:avLst/>
          </a:prstGeom>
          <a:noFill/>
          <a:ln w="9525">
            <a:solidFill>
              <a:srgbClr val="2A3660"/>
            </a:solidFill>
            <a:prstDash val="solid"/>
          </a:ln>
        </p:spPr>
      </p:sp>
      <p:sp>
        <p:nvSpPr>
          <p:cNvPr id="28" name="Text 26"/>
          <p:cNvSpPr/>
          <p:nvPr/>
        </p:nvSpPr>
        <p:spPr>
          <a:xfrm>
            <a:off x="457200" y="4864608"/>
            <a:ext cx="2743200" cy="228600"/>
          </a:xfrm>
          <a:prstGeom prst="rect">
            <a:avLst/>
          </a:prstGeom>
          <a:noFill/>
          <a:ln/>
        </p:spPr>
        <p:txBody>
          <a:bodyPr wrap="square" lIns="0" tIns="0" rIns="0" bIns="0" rtlCol="0" anchor="ctr"/>
          <a:lstStyle/>
          <a:p>
            <a:pPr indent="0" marL="0">
              <a:buNone/>
            </a:pPr>
            <a:r>
              <a:rPr lang="en-US" sz="800" b="1" spc="400" kern="0" dirty="0">
                <a:solidFill>
                  <a:srgbClr val="6E7699"/>
                </a:solidFill>
                <a:latin typeface="Space Grotesk" pitchFamily="34" charset="0"/>
                <a:ea typeface="Space Grotesk" pitchFamily="34" charset="-122"/>
                <a:cs typeface="Space Grotesk" pitchFamily="34" charset="-120"/>
              </a:rPr>
              <a:t>ARCHITECT.DEV</a:t>
            </a:r>
            <a:endParaRPr lang="en-US" sz="800" dirty="0"/>
          </a:p>
        </p:txBody>
      </p:sp>
      <p:sp>
        <p:nvSpPr>
          <p:cNvPr id="29" name="Text 27"/>
          <p:cNvSpPr/>
          <p:nvPr/>
        </p:nvSpPr>
        <p:spPr>
          <a:xfrm>
            <a:off x="6400800" y="4864608"/>
            <a:ext cx="2286000" cy="228600"/>
          </a:xfrm>
          <a:prstGeom prst="rect">
            <a:avLst/>
          </a:prstGeom>
          <a:noFill/>
          <a:ln/>
        </p:spPr>
        <p:txBody>
          <a:bodyPr wrap="square" lIns="0" tIns="0" rIns="0" bIns="0" rtlCol="0" anchor="ctr"/>
          <a:lstStyle/>
          <a:p>
            <a:pPr algn="r" indent="0" marL="0">
              <a:buNone/>
            </a:pPr>
            <a:r>
              <a:rPr lang="en-US" sz="800" dirty="0">
                <a:solidFill>
                  <a:srgbClr val="6E7699"/>
                </a:solidFill>
                <a:latin typeface="Space Grotesk" pitchFamily="34" charset="0"/>
                <a:ea typeface="Space Grotesk" pitchFamily="34" charset="-122"/>
                <a:cs typeface="Space Grotesk" pitchFamily="34" charset="-120"/>
              </a:rPr>
              <a:t>5 / 12</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326"/>
        </a:solidFill>
      </p:bgPr>
    </p:bg>
    <p:spTree>
      <p:nvGrpSpPr>
        <p:cNvPr id="1" name=""/>
        <p:cNvGrpSpPr/>
        <p:nvPr/>
      </p:nvGrpSpPr>
      <p:grpSpPr>
        <a:xfrm>
          <a:off x="0" y="0"/>
          <a:ext cx="0" cy="0"/>
          <a:chOff x="0" y="0"/>
          <a:chExt cx="0" cy="0"/>
        </a:xfrm>
      </p:grpSpPr>
      <p:sp>
        <p:nvSpPr>
          <p:cNvPr id="2" name="Text 0"/>
          <p:cNvSpPr/>
          <p:nvPr/>
        </p:nvSpPr>
        <p:spPr>
          <a:xfrm>
            <a:off x="457200" y="365760"/>
            <a:ext cx="8229600" cy="228600"/>
          </a:xfrm>
          <a:prstGeom prst="rect">
            <a:avLst/>
          </a:prstGeom>
          <a:noFill/>
          <a:ln/>
        </p:spPr>
        <p:txBody>
          <a:bodyPr wrap="square" lIns="0" tIns="0" rIns="0" bIns="0" rtlCol="0" anchor="ctr"/>
          <a:lstStyle/>
          <a:p>
            <a:pPr indent="0" marL="0">
              <a:buNone/>
            </a:pPr>
            <a:r>
              <a:rPr lang="en-US" sz="1000" b="1" spc="600" kern="0" dirty="0">
                <a:solidFill>
                  <a:srgbClr val="C0C1FF"/>
                </a:solidFill>
                <a:latin typeface="Space Grotesk" pitchFamily="34" charset="0"/>
                <a:ea typeface="Space Grotesk" pitchFamily="34" charset="-122"/>
                <a:cs typeface="Space Grotesk" pitchFamily="34" charset="-120"/>
              </a:rPr>
              <a:t>05 · REACT, UP CLOSE</a:t>
            </a:r>
            <a:endParaRPr lang="en-US" sz="1000" dirty="0"/>
          </a:p>
        </p:txBody>
      </p:sp>
      <p:sp>
        <p:nvSpPr>
          <p:cNvPr id="3" name="Text 1"/>
          <p:cNvSpPr/>
          <p:nvPr/>
        </p:nvSpPr>
        <p:spPr>
          <a:xfrm>
            <a:off x="457200" y="685800"/>
            <a:ext cx="8229600" cy="868680"/>
          </a:xfrm>
          <a:prstGeom prst="rect">
            <a:avLst/>
          </a:prstGeom>
          <a:noFill/>
          <a:ln/>
        </p:spPr>
        <p:txBody>
          <a:bodyPr wrap="square" lIns="0" tIns="0" rIns="0" bIns="0" rtlCol="0" anchor="ctr"/>
          <a:lstStyle/>
          <a:p>
            <a:pPr indent="0" marL="0">
              <a:buNone/>
            </a:pPr>
            <a:r>
              <a:rPr lang="en-US" sz="3200" b="1" dirty="0">
                <a:solidFill>
                  <a:srgbClr val="FFFFFF"/>
                </a:solidFill>
                <a:latin typeface="Space Grotesk" pitchFamily="34" charset="0"/>
                <a:ea typeface="Space Grotesk" pitchFamily="34" charset="-122"/>
                <a:cs typeface="Space Grotesk" pitchFamily="34" charset="-120"/>
              </a:rPr>
              <a:t>One hook per concern.</a:t>
            </a:r>
            <a:endParaRPr lang="en-US" sz="3200" dirty="0"/>
          </a:p>
        </p:txBody>
      </p:sp>
      <p:sp>
        <p:nvSpPr>
          <p:cNvPr id="4" name="Text 2"/>
          <p:cNvSpPr/>
          <p:nvPr/>
        </p:nvSpPr>
        <p:spPr>
          <a:xfrm>
            <a:off x="457200" y="1554480"/>
            <a:ext cx="8229600" cy="502920"/>
          </a:xfrm>
          <a:prstGeom prst="rect">
            <a:avLst/>
          </a:prstGeom>
          <a:noFill/>
          <a:ln/>
        </p:spPr>
        <p:txBody>
          <a:bodyPr wrap="square" lIns="0" tIns="0" rIns="0" bIns="0" rtlCol="0" anchor="ctr"/>
          <a:lstStyle/>
          <a:p>
            <a:pPr indent="0" marL="0">
              <a:buNone/>
            </a:pPr>
            <a:r>
              <a:rPr lang="en-US" sz="1300" dirty="0">
                <a:solidFill>
                  <a:srgbClr val="A7ADC6"/>
                </a:solidFill>
                <a:latin typeface="Inter" pitchFamily="34" charset="0"/>
                <a:ea typeface="Inter" pitchFamily="34" charset="-122"/>
                <a:cs typeface="Inter" pitchFamily="34" charset="-120"/>
              </a:rPr>
              <a:t>Each part of the UI picks the smallest React primitive that solves its problem — no external state manager, no custom hook library.</a:t>
            </a:r>
            <a:endParaRPr lang="en-US" sz="1300" dirty="0"/>
          </a:p>
        </p:txBody>
      </p:sp>
      <p:sp>
        <p:nvSpPr>
          <p:cNvPr id="5" name="Shape 3"/>
          <p:cNvSpPr/>
          <p:nvPr/>
        </p:nvSpPr>
        <p:spPr>
          <a:xfrm>
            <a:off x="457200" y="2286000"/>
            <a:ext cx="2609088" cy="1065276"/>
          </a:xfrm>
          <a:prstGeom prst="rect">
            <a:avLst/>
          </a:prstGeom>
          <a:solidFill>
            <a:srgbClr val="141F3D"/>
          </a:solidFill>
          <a:ln w="9525">
            <a:solidFill>
              <a:srgbClr val="2A3660"/>
            </a:solidFill>
            <a:prstDash val="solid"/>
          </a:ln>
        </p:spPr>
      </p:sp>
      <p:sp>
        <p:nvSpPr>
          <p:cNvPr id="6" name="Shape 4"/>
          <p:cNvSpPr/>
          <p:nvPr/>
        </p:nvSpPr>
        <p:spPr>
          <a:xfrm>
            <a:off x="457200" y="2286000"/>
            <a:ext cx="36576" cy="1065276"/>
          </a:xfrm>
          <a:prstGeom prst="rect">
            <a:avLst/>
          </a:prstGeom>
          <a:solidFill>
            <a:srgbClr val="C0C1FF"/>
          </a:solidFill>
          <a:ln w="12700">
            <a:solidFill>
              <a:srgbClr val="C0C1FF"/>
            </a:solidFill>
            <a:prstDash val="solid"/>
          </a:ln>
        </p:spPr>
      </p:sp>
      <p:sp>
        <p:nvSpPr>
          <p:cNvPr id="7" name="Text 5"/>
          <p:cNvSpPr/>
          <p:nvPr/>
        </p:nvSpPr>
        <p:spPr>
          <a:xfrm>
            <a:off x="621792" y="2395728"/>
            <a:ext cx="2334768" cy="274320"/>
          </a:xfrm>
          <a:prstGeom prst="rect">
            <a:avLst/>
          </a:prstGeom>
          <a:noFill/>
          <a:ln/>
        </p:spPr>
        <p:txBody>
          <a:bodyPr wrap="square" lIns="0" tIns="0" rIns="0" bIns="0" rtlCol="0" anchor="ctr"/>
          <a:lstStyle/>
          <a:p>
            <a:pPr indent="0" marL="0">
              <a:buNone/>
            </a:pPr>
            <a:r>
              <a:rPr lang="en-US" sz="1200" b="1" dirty="0">
                <a:solidFill>
                  <a:srgbClr val="C0C1FF"/>
                </a:solidFill>
                <a:latin typeface="Courier New" pitchFamily="34" charset="0"/>
                <a:ea typeface="Courier New" pitchFamily="34" charset="-122"/>
                <a:cs typeface="Courier New" pitchFamily="34" charset="-120"/>
              </a:rPr>
              <a:t>useState</a:t>
            </a:r>
            <a:endParaRPr lang="en-US" sz="1200" dirty="0"/>
          </a:p>
        </p:txBody>
      </p:sp>
      <p:sp>
        <p:nvSpPr>
          <p:cNvPr id="8" name="Text 6"/>
          <p:cNvSpPr/>
          <p:nvPr/>
        </p:nvSpPr>
        <p:spPr>
          <a:xfrm>
            <a:off x="621792" y="2633472"/>
            <a:ext cx="2334768" cy="201168"/>
          </a:xfrm>
          <a:prstGeom prst="rect">
            <a:avLst/>
          </a:prstGeom>
          <a:noFill/>
          <a:ln/>
        </p:spPr>
        <p:txBody>
          <a:bodyPr wrap="square" lIns="0" tIns="0" rIns="0" bIns="0" rtlCol="0" anchor="ctr"/>
          <a:lstStyle/>
          <a:p>
            <a:pPr indent="0" marL="0">
              <a:buNone/>
            </a:pPr>
            <a:r>
              <a:rPr lang="en-US" sz="900" b="1" spc="300" kern="0" dirty="0">
                <a:solidFill>
                  <a:srgbClr val="6E7699"/>
                </a:solidFill>
                <a:latin typeface="Space Grotesk" pitchFamily="34" charset="0"/>
                <a:ea typeface="Space Grotesk" pitchFamily="34" charset="-122"/>
                <a:cs typeface="Space Grotesk" pitchFamily="34" charset="-120"/>
              </a:rPr>
              <a:t>pieces of truth</a:t>
            </a:r>
            <a:endParaRPr lang="en-US" sz="900" dirty="0"/>
          </a:p>
        </p:txBody>
      </p:sp>
      <p:sp>
        <p:nvSpPr>
          <p:cNvPr id="9" name="Text 7"/>
          <p:cNvSpPr/>
          <p:nvPr/>
        </p:nvSpPr>
        <p:spPr>
          <a:xfrm>
            <a:off x="621792" y="2834640"/>
            <a:ext cx="2334768" cy="461772"/>
          </a:xfrm>
          <a:prstGeom prst="rect">
            <a:avLst/>
          </a:prstGeom>
          <a:noFill/>
          <a:ln/>
        </p:spPr>
        <p:txBody>
          <a:bodyPr wrap="square" lIns="0" tIns="0" rIns="0" bIns="0" rtlCol="0" anchor="ctr"/>
          <a:lstStyle/>
          <a:p>
            <a:pPr indent="0" marL="0">
              <a:buNone/>
            </a:pPr>
            <a:r>
              <a:rPr lang="en-US" sz="1000" dirty="0">
                <a:solidFill>
                  <a:srgbClr val="A7ADC6"/>
                </a:solidFill>
                <a:latin typeface="Inter" pitchFamily="34" charset="0"/>
                <a:ea typeface="Inter" pitchFamily="34" charset="-122"/>
                <a:cs typeface="Inter" pitchFamily="34" charset="-120"/>
              </a:rPr>
              <a:t>Holds session user, loaded page data, loading flags, and edit-form buffers. Each page owns the state it cares about.</a:t>
            </a:r>
            <a:endParaRPr lang="en-US" sz="1000" dirty="0"/>
          </a:p>
        </p:txBody>
      </p:sp>
      <p:sp>
        <p:nvSpPr>
          <p:cNvPr id="10" name="Shape 8"/>
          <p:cNvSpPr/>
          <p:nvPr/>
        </p:nvSpPr>
        <p:spPr>
          <a:xfrm>
            <a:off x="3267456" y="2286000"/>
            <a:ext cx="2609088" cy="1065276"/>
          </a:xfrm>
          <a:prstGeom prst="rect">
            <a:avLst/>
          </a:prstGeom>
          <a:solidFill>
            <a:srgbClr val="141F3D"/>
          </a:solidFill>
          <a:ln w="9525">
            <a:solidFill>
              <a:srgbClr val="2A3660"/>
            </a:solidFill>
            <a:prstDash val="solid"/>
          </a:ln>
        </p:spPr>
      </p:sp>
      <p:sp>
        <p:nvSpPr>
          <p:cNvPr id="11" name="Shape 9"/>
          <p:cNvSpPr/>
          <p:nvPr/>
        </p:nvSpPr>
        <p:spPr>
          <a:xfrm>
            <a:off x="3267456" y="2286000"/>
            <a:ext cx="36576" cy="1065276"/>
          </a:xfrm>
          <a:prstGeom prst="rect">
            <a:avLst/>
          </a:prstGeom>
          <a:solidFill>
            <a:srgbClr val="C0C1FF"/>
          </a:solidFill>
          <a:ln w="12700">
            <a:solidFill>
              <a:srgbClr val="C0C1FF"/>
            </a:solidFill>
            <a:prstDash val="solid"/>
          </a:ln>
        </p:spPr>
      </p:sp>
      <p:sp>
        <p:nvSpPr>
          <p:cNvPr id="12" name="Text 10"/>
          <p:cNvSpPr/>
          <p:nvPr/>
        </p:nvSpPr>
        <p:spPr>
          <a:xfrm>
            <a:off x="3432048" y="2395728"/>
            <a:ext cx="2334768" cy="274320"/>
          </a:xfrm>
          <a:prstGeom prst="rect">
            <a:avLst/>
          </a:prstGeom>
          <a:noFill/>
          <a:ln/>
        </p:spPr>
        <p:txBody>
          <a:bodyPr wrap="square" lIns="0" tIns="0" rIns="0" bIns="0" rtlCol="0" anchor="ctr"/>
          <a:lstStyle/>
          <a:p>
            <a:pPr indent="0" marL="0">
              <a:buNone/>
            </a:pPr>
            <a:r>
              <a:rPr lang="en-US" sz="1200" b="1" dirty="0">
                <a:solidFill>
                  <a:srgbClr val="C0C1FF"/>
                </a:solidFill>
                <a:latin typeface="Courier New" pitchFamily="34" charset="0"/>
                <a:ea typeface="Courier New" pitchFamily="34" charset="-122"/>
                <a:cs typeface="Courier New" pitchFamily="34" charset="-120"/>
              </a:rPr>
              <a:t>useEffect</a:t>
            </a:r>
            <a:endParaRPr lang="en-US" sz="1200" dirty="0"/>
          </a:p>
        </p:txBody>
      </p:sp>
      <p:sp>
        <p:nvSpPr>
          <p:cNvPr id="13" name="Text 11"/>
          <p:cNvSpPr/>
          <p:nvPr/>
        </p:nvSpPr>
        <p:spPr>
          <a:xfrm>
            <a:off x="3432048" y="2633472"/>
            <a:ext cx="2334768" cy="201168"/>
          </a:xfrm>
          <a:prstGeom prst="rect">
            <a:avLst/>
          </a:prstGeom>
          <a:noFill/>
          <a:ln/>
        </p:spPr>
        <p:txBody>
          <a:bodyPr wrap="square" lIns="0" tIns="0" rIns="0" bIns="0" rtlCol="0" anchor="ctr"/>
          <a:lstStyle/>
          <a:p>
            <a:pPr indent="0" marL="0">
              <a:buNone/>
            </a:pPr>
            <a:r>
              <a:rPr lang="en-US" sz="900" b="1" spc="300" kern="0" dirty="0">
                <a:solidFill>
                  <a:srgbClr val="6E7699"/>
                </a:solidFill>
                <a:latin typeface="Space Grotesk" pitchFamily="34" charset="0"/>
                <a:ea typeface="Space Grotesk" pitchFamily="34" charset="-122"/>
                <a:cs typeface="Space Grotesk" pitchFamily="34" charset="-120"/>
              </a:rPr>
              <a:t>load + cancel</a:t>
            </a:r>
            <a:endParaRPr lang="en-US" sz="900" dirty="0"/>
          </a:p>
        </p:txBody>
      </p:sp>
      <p:sp>
        <p:nvSpPr>
          <p:cNvPr id="14" name="Text 12"/>
          <p:cNvSpPr/>
          <p:nvPr/>
        </p:nvSpPr>
        <p:spPr>
          <a:xfrm>
            <a:off x="3432048" y="2834640"/>
            <a:ext cx="2334768" cy="461772"/>
          </a:xfrm>
          <a:prstGeom prst="rect">
            <a:avLst/>
          </a:prstGeom>
          <a:noFill/>
          <a:ln/>
        </p:spPr>
        <p:txBody>
          <a:bodyPr wrap="square" lIns="0" tIns="0" rIns="0" bIns="0" rtlCol="0" anchor="ctr"/>
          <a:lstStyle/>
          <a:p>
            <a:pPr indent="0" marL="0">
              <a:buNone/>
            </a:pPr>
            <a:r>
              <a:rPr lang="en-US" sz="1000" dirty="0">
                <a:solidFill>
                  <a:srgbClr val="A7ADC6"/>
                </a:solidFill>
                <a:latin typeface="Inter" pitchFamily="34" charset="0"/>
                <a:ea typeface="Inter" pitchFamily="34" charset="-122"/>
                <a:cs typeface="Inter" pitchFamily="34" charset="-120"/>
              </a:rPr>
              <a:t>Kicks off async loaders on mount and when the URL changes. A cancelled flag in cleanup stops stale fetches from overwriting fresh ones.</a:t>
            </a:r>
            <a:endParaRPr lang="en-US" sz="1000" dirty="0"/>
          </a:p>
        </p:txBody>
      </p:sp>
      <p:sp>
        <p:nvSpPr>
          <p:cNvPr id="15" name="Shape 13"/>
          <p:cNvSpPr/>
          <p:nvPr/>
        </p:nvSpPr>
        <p:spPr>
          <a:xfrm>
            <a:off x="6077712" y="2286000"/>
            <a:ext cx="2609088" cy="1065276"/>
          </a:xfrm>
          <a:prstGeom prst="rect">
            <a:avLst/>
          </a:prstGeom>
          <a:solidFill>
            <a:srgbClr val="141F3D"/>
          </a:solidFill>
          <a:ln w="9525">
            <a:solidFill>
              <a:srgbClr val="2A3660"/>
            </a:solidFill>
            <a:prstDash val="solid"/>
          </a:ln>
        </p:spPr>
      </p:sp>
      <p:sp>
        <p:nvSpPr>
          <p:cNvPr id="16" name="Shape 14"/>
          <p:cNvSpPr/>
          <p:nvPr/>
        </p:nvSpPr>
        <p:spPr>
          <a:xfrm>
            <a:off x="6077712" y="2286000"/>
            <a:ext cx="36576" cy="1065276"/>
          </a:xfrm>
          <a:prstGeom prst="rect">
            <a:avLst/>
          </a:prstGeom>
          <a:solidFill>
            <a:srgbClr val="C0C1FF"/>
          </a:solidFill>
          <a:ln w="12700">
            <a:solidFill>
              <a:srgbClr val="C0C1FF"/>
            </a:solidFill>
            <a:prstDash val="solid"/>
          </a:ln>
        </p:spPr>
      </p:sp>
      <p:sp>
        <p:nvSpPr>
          <p:cNvPr id="17" name="Text 15"/>
          <p:cNvSpPr/>
          <p:nvPr/>
        </p:nvSpPr>
        <p:spPr>
          <a:xfrm>
            <a:off x="6242304" y="2395728"/>
            <a:ext cx="2334768" cy="274320"/>
          </a:xfrm>
          <a:prstGeom prst="rect">
            <a:avLst/>
          </a:prstGeom>
          <a:noFill/>
          <a:ln/>
        </p:spPr>
        <p:txBody>
          <a:bodyPr wrap="square" lIns="0" tIns="0" rIns="0" bIns="0" rtlCol="0" anchor="ctr"/>
          <a:lstStyle/>
          <a:p>
            <a:pPr indent="0" marL="0">
              <a:buNone/>
            </a:pPr>
            <a:r>
              <a:rPr lang="en-US" sz="1200" b="1" dirty="0">
                <a:solidFill>
                  <a:srgbClr val="C0C1FF"/>
                </a:solidFill>
                <a:latin typeface="Courier New" pitchFamily="34" charset="0"/>
                <a:ea typeface="Courier New" pitchFamily="34" charset="-122"/>
                <a:cs typeface="Courier New" pitchFamily="34" charset="-120"/>
              </a:rPr>
              <a:t>useMemo</a:t>
            </a:r>
            <a:endParaRPr lang="en-US" sz="1200" dirty="0"/>
          </a:p>
        </p:txBody>
      </p:sp>
      <p:sp>
        <p:nvSpPr>
          <p:cNvPr id="18" name="Text 16"/>
          <p:cNvSpPr/>
          <p:nvPr/>
        </p:nvSpPr>
        <p:spPr>
          <a:xfrm>
            <a:off x="6242304" y="2633472"/>
            <a:ext cx="2334768" cy="201168"/>
          </a:xfrm>
          <a:prstGeom prst="rect">
            <a:avLst/>
          </a:prstGeom>
          <a:noFill/>
          <a:ln/>
        </p:spPr>
        <p:txBody>
          <a:bodyPr wrap="square" lIns="0" tIns="0" rIns="0" bIns="0" rtlCol="0" anchor="ctr"/>
          <a:lstStyle/>
          <a:p>
            <a:pPr indent="0" marL="0">
              <a:buNone/>
            </a:pPr>
            <a:r>
              <a:rPr lang="en-US" sz="900" b="1" spc="300" kern="0" dirty="0">
                <a:solidFill>
                  <a:srgbClr val="6E7699"/>
                </a:solidFill>
                <a:latin typeface="Space Grotesk" pitchFamily="34" charset="0"/>
                <a:ea typeface="Space Grotesk" pitchFamily="34" charset="-122"/>
                <a:cs typeface="Space Grotesk" pitchFamily="34" charset="-120"/>
              </a:rPr>
              <a:t>derived buckets</a:t>
            </a:r>
            <a:endParaRPr lang="en-US" sz="900" dirty="0"/>
          </a:p>
        </p:txBody>
      </p:sp>
      <p:sp>
        <p:nvSpPr>
          <p:cNvPr id="19" name="Text 17"/>
          <p:cNvSpPr/>
          <p:nvPr/>
        </p:nvSpPr>
        <p:spPr>
          <a:xfrm>
            <a:off x="6242304" y="2834640"/>
            <a:ext cx="2334768" cy="461772"/>
          </a:xfrm>
          <a:prstGeom prst="rect">
            <a:avLst/>
          </a:prstGeom>
          <a:noFill/>
          <a:ln/>
        </p:spPr>
        <p:txBody>
          <a:bodyPr wrap="square" lIns="0" tIns="0" rIns="0" bIns="0" rtlCol="0" anchor="ctr"/>
          <a:lstStyle/>
          <a:p>
            <a:pPr indent="0" marL="0">
              <a:buNone/>
            </a:pPr>
            <a:r>
              <a:rPr lang="en-US" sz="1000" dirty="0">
                <a:solidFill>
                  <a:srgbClr val="A7ADC6"/>
                </a:solidFill>
                <a:latin typeface="Inter" pitchFamily="34" charset="0"/>
                <a:ea typeface="Inter" pitchFamily="34" charset="-122"/>
                <a:cs typeface="Inter" pitchFamily="34" charset="-120"/>
              </a:rPr>
              <a:t>Groups the flat Project list into folders + unfiled + hidden. Recomputes only when projects or folder definitions change.</a:t>
            </a:r>
            <a:endParaRPr lang="en-US" sz="1000" dirty="0"/>
          </a:p>
        </p:txBody>
      </p:sp>
      <p:sp>
        <p:nvSpPr>
          <p:cNvPr id="20" name="Shape 18"/>
          <p:cNvSpPr/>
          <p:nvPr/>
        </p:nvSpPr>
        <p:spPr>
          <a:xfrm>
            <a:off x="457200" y="3552444"/>
            <a:ext cx="2609088" cy="1065276"/>
          </a:xfrm>
          <a:prstGeom prst="rect">
            <a:avLst/>
          </a:prstGeom>
          <a:solidFill>
            <a:srgbClr val="141F3D"/>
          </a:solidFill>
          <a:ln w="9525">
            <a:solidFill>
              <a:srgbClr val="2A3660"/>
            </a:solidFill>
            <a:prstDash val="solid"/>
          </a:ln>
        </p:spPr>
      </p:sp>
      <p:sp>
        <p:nvSpPr>
          <p:cNvPr id="21" name="Shape 19"/>
          <p:cNvSpPr/>
          <p:nvPr/>
        </p:nvSpPr>
        <p:spPr>
          <a:xfrm>
            <a:off x="457200" y="3552444"/>
            <a:ext cx="36576" cy="1065276"/>
          </a:xfrm>
          <a:prstGeom prst="rect">
            <a:avLst/>
          </a:prstGeom>
          <a:solidFill>
            <a:srgbClr val="C0C1FF"/>
          </a:solidFill>
          <a:ln w="12700">
            <a:solidFill>
              <a:srgbClr val="C0C1FF"/>
            </a:solidFill>
            <a:prstDash val="solid"/>
          </a:ln>
        </p:spPr>
      </p:sp>
      <p:sp>
        <p:nvSpPr>
          <p:cNvPr id="22" name="Text 20"/>
          <p:cNvSpPr/>
          <p:nvPr/>
        </p:nvSpPr>
        <p:spPr>
          <a:xfrm>
            <a:off x="621792" y="3662172"/>
            <a:ext cx="2334768" cy="274320"/>
          </a:xfrm>
          <a:prstGeom prst="rect">
            <a:avLst/>
          </a:prstGeom>
          <a:noFill/>
          <a:ln/>
        </p:spPr>
        <p:txBody>
          <a:bodyPr wrap="square" lIns="0" tIns="0" rIns="0" bIns="0" rtlCol="0" anchor="ctr"/>
          <a:lstStyle/>
          <a:p>
            <a:pPr indent="0" marL="0">
              <a:buNone/>
            </a:pPr>
            <a:r>
              <a:rPr lang="en-US" sz="1200" b="1" dirty="0">
                <a:solidFill>
                  <a:srgbClr val="C0C1FF"/>
                </a:solidFill>
                <a:latin typeface="Courier New" pitchFamily="34" charset="0"/>
                <a:ea typeface="Courier New" pitchFamily="34" charset="-122"/>
                <a:cs typeface="Courier New" pitchFamily="34" charset="-120"/>
              </a:rPr>
              <a:t>useTransition</a:t>
            </a:r>
            <a:endParaRPr lang="en-US" sz="1200" dirty="0"/>
          </a:p>
        </p:txBody>
      </p:sp>
      <p:sp>
        <p:nvSpPr>
          <p:cNvPr id="23" name="Text 21"/>
          <p:cNvSpPr/>
          <p:nvPr/>
        </p:nvSpPr>
        <p:spPr>
          <a:xfrm>
            <a:off x="621792" y="3899916"/>
            <a:ext cx="2334768" cy="201168"/>
          </a:xfrm>
          <a:prstGeom prst="rect">
            <a:avLst/>
          </a:prstGeom>
          <a:noFill/>
          <a:ln/>
        </p:spPr>
        <p:txBody>
          <a:bodyPr wrap="square" lIns="0" tIns="0" rIns="0" bIns="0" rtlCol="0" anchor="ctr"/>
          <a:lstStyle/>
          <a:p>
            <a:pPr indent="0" marL="0">
              <a:buNone/>
            </a:pPr>
            <a:r>
              <a:rPr lang="en-US" sz="900" b="1" spc="300" kern="0" dirty="0">
                <a:solidFill>
                  <a:srgbClr val="6E7699"/>
                </a:solidFill>
                <a:latin typeface="Space Grotesk" pitchFamily="34" charset="0"/>
                <a:ea typeface="Space Grotesk" pitchFamily="34" charset="-122"/>
                <a:cs typeface="Space Grotesk" pitchFamily="34" charset="-120"/>
              </a:rPr>
              <a:t>snappy edits</a:t>
            </a:r>
            <a:endParaRPr lang="en-US" sz="900" dirty="0"/>
          </a:p>
        </p:txBody>
      </p:sp>
      <p:sp>
        <p:nvSpPr>
          <p:cNvPr id="24" name="Text 22"/>
          <p:cNvSpPr/>
          <p:nvPr/>
        </p:nvSpPr>
        <p:spPr>
          <a:xfrm>
            <a:off x="621792" y="4101084"/>
            <a:ext cx="2334768" cy="461772"/>
          </a:xfrm>
          <a:prstGeom prst="rect">
            <a:avLst/>
          </a:prstGeom>
          <a:noFill/>
          <a:ln/>
        </p:spPr>
        <p:txBody>
          <a:bodyPr wrap="square" lIns="0" tIns="0" rIns="0" bIns="0" rtlCol="0" anchor="ctr"/>
          <a:lstStyle/>
          <a:p>
            <a:pPr indent="0" marL="0">
              <a:buNone/>
            </a:pPr>
            <a:r>
              <a:rPr lang="en-US" sz="1000" dirty="0">
                <a:solidFill>
                  <a:srgbClr val="A7ADC6"/>
                </a:solidFill>
                <a:latin typeface="Inter" pitchFamily="34" charset="0"/>
                <a:ea typeface="Inter" pitchFamily="34" charset="-122"/>
                <a:cs typeface="Inter" pitchFamily="34" charset="-120"/>
              </a:rPr>
              <a:t>Drag-reorders and visibility toggles are marked low-priority, so the UI updates instantly while Supabase writes happen in the background.</a:t>
            </a:r>
            <a:endParaRPr lang="en-US" sz="1000" dirty="0"/>
          </a:p>
        </p:txBody>
      </p:sp>
      <p:sp>
        <p:nvSpPr>
          <p:cNvPr id="25" name="Shape 23"/>
          <p:cNvSpPr/>
          <p:nvPr/>
        </p:nvSpPr>
        <p:spPr>
          <a:xfrm>
            <a:off x="3267456" y="3552444"/>
            <a:ext cx="2609088" cy="1065276"/>
          </a:xfrm>
          <a:prstGeom prst="rect">
            <a:avLst/>
          </a:prstGeom>
          <a:solidFill>
            <a:srgbClr val="141F3D"/>
          </a:solidFill>
          <a:ln w="9525">
            <a:solidFill>
              <a:srgbClr val="2A3660"/>
            </a:solidFill>
            <a:prstDash val="solid"/>
          </a:ln>
        </p:spPr>
      </p:sp>
      <p:sp>
        <p:nvSpPr>
          <p:cNvPr id="26" name="Shape 24"/>
          <p:cNvSpPr/>
          <p:nvPr/>
        </p:nvSpPr>
        <p:spPr>
          <a:xfrm>
            <a:off x="3267456" y="3552444"/>
            <a:ext cx="36576" cy="1065276"/>
          </a:xfrm>
          <a:prstGeom prst="rect">
            <a:avLst/>
          </a:prstGeom>
          <a:solidFill>
            <a:srgbClr val="C0C1FF"/>
          </a:solidFill>
          <a:ln w="12700">
            <a:solidFill>
              <a:srgbClr val="C0C1FF"/>
            </a:solidFill>
            <a:prstDash val="solid"/>
          </a:ln>
        </p:spPr>
      </p:sp>
      <p:sp>
        <p:nvSpPr>
          <p:cNvPr id="27" name="Text 25"/>
          <p:cNvSpPr/>
          <p:nvPr/>
        </p:nvSpPr>
        <p:spPr>
          <a:xfrm>
            <a:off x="3432048" y="3662172"/>
            <a:ext cx="2334768" cy="274320"/>
          </a:xfrm>
          <a:prstGeom prst="rect">
            <a:avLst/>
          </a:prstGeom>
          <a:noFill/>
          <a:ln/>
        </p:spPr>
        <p:txBody>
          <a:bodyPr wrap="square" lIns="0" tIns="0" rIns="0" bIns="0" rtlCol="0" anchor="ctr"/>
          <a:lstStyle/>
          <a:p>
            <a:pPr indent="0" marL="0">
              <a:buNone/>
            </a:pPr>
            <a:r>
              <a:rPr lang="en-US" sz="1200" b="1" dirty="0">
                <a:solidFill>
                  <a:srgbClr val="C0C1FF"/>
                </a:solidFill>
                <a:latin typeface="Courier New" pitchFamily="34" charset="0"/>
                <a:ea typeface="Courier New" pitchFamily="34" charset="-122"/>
                <a:cs typeface="Courier New" pitchFamily="34" charset="-120"/>
              </a:rPr>
              <a:t>useSyncExternalStore</a:t>
            </a:r>
            <a:endParaRPr lang="en-US" sz="1200" dirty="0"/>
          </a:p>
        </p:txBody>
      </p:sp>
      <p:sp>
        <p:nvSpPr>
          <p:cNvPr id="28" name="Text 26"/>
          <p:cNvSpPr/>
          <p:nvPr/>
        </p:nvSpPr>
        <p:spPr>
          <a:xfrm>
            <a:off x="3432048" y="3899916"/>
            <a:ext cx="2334768" cy="201168"/>
          </a:xfrm>
          <a:prstGeom prst="rect">
            <a:avLst/>
          </a:prstGeom>
          <a:noFill/>
          <a:ln/>
        </p:spPr>
        <p:txBody>
          <a:bodyPr wrap="square" lIns="0" tIns="0" rIns="0" bIns="0" rtlCol="0" anchor="ctr"/>
          <a:lstStyle/>
          <a:p>
            <a:pPr indent="0" marL="0">
              <a:buNone/>
            </a:pPr>
            <a:r>
              <a:rPr lang="en-US" sz="900" b="1" spc="300" kern="0" dirty="0">
                <a:solidFill>
                  <a:srgbClr val="6E7699"/>
                </a:solidFill>
                <a:latin typeface="Space Grotesk" pitchFamily="34" charset="0"/>
                <a:ea typeface="Space Grotesk" pitchFamily="34" charset="-122"/>
                <a:cs typeface="Space Grotesk" pitchFamily="34" charset="-120"/>
              </a:rPr>
              <a:t>URL as state</a:t>
            </a:r>
            <a:endParaRPr lang="en-US" sz="900" dirty="0"/>
          </a:p>
        </p:txBody>
      </p:sp>
      <p:sp>
        <p:nvSpPr>
          <p:cNvPr id="29" name="Text 27"/>
          <p:cNvSpPr/>
          <p:nvPr/>
        </p:nvSpPr>
        <p:spPr>
          <a:xfrm>
            <a:off x="3432048" y="4101084"/>
            <a:ext cx="2334768" cy="461772"/>
          </a:xfrm>
          <a:prstGeom prst="rect">
            <a:avLst/>
          </a:prstGeom>
          <a:noFill/>
          <a:ln/>
        </p:spPr>
        <p:txBody>
          <a:bodyPr wrap="square" lIns="0" tIns="0" rIns="0" bIns="0" rtlCol="0" anchor="ctr"/>
          <a:lstStyle/>
          <a:p>
            <a:pPr indent="0" marL="0">
              <a:buNone/>
            </a:pPr>
            <a:r>
              <a:rPr lang="en-US" sz="1000" dirty="0">
                <a:solidFill>
                  <a:srgbClr val="A7ADC6"/>
                </a:solidFill>
                <a:latin typeface="Inter" pitchFamily="34" charset="0"/>
                <a:ea typeface="Inter" pitchFamily="34" charset="-122"/>
                <a:cs typeface="Inter" pitchFamily="34" charset="-120"/>
              </a:rPr>
              <a:t>Subscribes to hashchange. Turns the URL fragment into a normal React value — no react-router dependency.</a:t>
            </a:r>
            <a:endParaRPr lang="en-US" sz="1000" dirty="0"/>
          </a:p>
        </p:txBody>
      </p:sp>
      <p:sp>
        <p:nvSpPr>
          <p:cNvPr id="30" name="Shape 28"/>
          <p:cNvSpPr/>
          <p:nvPr/>
        </p:nvSpPr>
        <p:spPr>
          <a:xfrm>
            <a:off x="6077712" y="3552444"/>
            <a:ext cx="2609088" cy="1065276"/>
          </a:xfrm>
          <a:prstGeom prst="rect">
            <a:avLst/>
          </a:prstGeom>
          <a:solidFill>
            <a:srgbClr val="141F3D"/>
          </a:solidFill>
          <a:ln w="9525">
            <a:solidFill>
              <a:srgbClr val="2A3660"/>
            </a:solidFill>
            <a:prstDash val="solid"/>
          </a:ln>
        </p:spPr>
      </p:sp>
      <p:sp>
        <p:nvSpPr>
          <p:cNvPr id="31" name="Shape 29"/>
          <p:cNvSpPr/>
          <p:nvPr/>
        </p:nvSpPr>
        <p:spPr>
          <a:xfrm>
            <a:off x="6077712" y="3552444"/>
            <a:ext cx="36576" cy="1065276"/>
          </a:xfrm>
          <a:prstGeom prst="rect">
            <a:avLst/>
          </a:prstGeom>
          <a:solidFill>
            <a:srgbClr val="C0C1FF"/>
          </a:solidFill>
          <a:ln w="12700">
            <a:solidFill>
              <a:srgbClr val="C0C1FF"/>
            </a:solidFill>
            <a:prstDash val="solid"/>
          </a:ln>
        </p:spPr>
      </p:sp>
      <p:sp>
        <p:nvSpPr>
          <p:cNvPr id="32" name="Text 30"/>
          <p:cNvSpPr/>
          <p:nvPr/>
        </p:nvSpPr>
        <p:spPr>
          <a:xfrm>
            <a:off x="6242304" y="3662172"/>
            <a:ext cx="2334768" cy="274320"/>
          </a:xfrm>
          <a:prstGeom prst="rect">
            <a:avLst/>
          </a:prstGeom>
          <a:noFill/>
          <a:ln/>
        </p:spPr>
        <p:txBody>
          <a:bodyPr wrap="square" lIns="0" tIns="0" rIns="0" bIns="0" rtlCol="0" anchor="ctr"/>
          <a:lstStyle/>
          <a:p>
            <a:pPr indent="0" marL="0">
              <a:buNone/>
            </a:pPr>
            <a:r>
              <a:rPr lang="en-US" sz="1200" b="1" dirty="0">
                <a:solidFill>
                  <a:srgbClr val="C0C1FF"/>
                </a:solidFill>
                <a:latin typeface="Courier New" pitchFamily="34" charset="0"/>
                <a:ea typeface="Courier New" pitchFamily="34" charset="-122"/>
                <a:cs typeface="Courier New" pitchFamily="34" charset="-120"/>
              </a:rPr>
              <a:t>Composition</a:t>
            </a:r>
            <a:endParaRPr lang="en-US" sz="1200" dirty="0"/>
          </a:p>
        </p:txBody>
      </p:sp>
      <p:sp>
        <p:nvSpPr>
          <p:cNvPr id="33" name="Text 31"/>
          <p:cNvSpPr/>
          <p:nvPr/>
        </p:nvSpPr>
        <p:spPr>
          <a:xfrm>
            <a:off x="6242304" y="3899916"/>
            <a:ext cx="2334768" cy="201168"/>
          </a:xfrm>
          <a:prstGeom prst="rect">
            <a:avLst/>
          </a:prstGeom>
          <a:noFill/>
          <a:ln/>
        </p:spPr>
        <p:txBody>
          <a:bodyPr wrap="square" lIns="0" tIns="0" rIns="0" bIns="0" rtlCol="0" anchor="ctr"/>
          <a:lstStyle/>
          <a:p>
            <a:pPr indent="0" marL="0">
              <a:buNone/>
            </a:pPr>
            <a:r>
              <a:rPr lang="en-US" sz="900" b="1" spc="300" kern="0" dirty="0">
                <a:solidFill>
                  <a:srgbClr val="6E7699"/>
                </a:solidFill>
                <a:latin typeface="Space Grotesk" pitchFamily="34" charset="0"/>
                <a:ea typeface="Space Grotesk" pitchFamily="34" charset="-122"/>
                <a:cs typeface="Space Grotesk" pitchFamily="34" charset="-120"/>
              </a:rPr>
              <a:t>reader vs owner</a:t>
            </a:r>
            <a:endParaRPr lang="en-US" sz="900" dirty="0"/>
          </a:p>
        </p:txBody>
      </p:sp>
      <p:sp>
        <p:nvSpPr>
          <p:cNvPr id="34" name="Text 32"/>
          <p:cNvSpPr/>
          <p:nvPr/>
        </p:nvSpPr>
        <p:spPr>
          <a:xfrm>
            <a:off x="6242304" y="4101084"/>
            <a:ext cx="2334768" cy="461772"/>
          </a:xfrm>
          <a:prstGeom prst="rect">
            <a:avLst/>
          </a:prstGeom>
          <a:noFill/>
          <a:ln/>
        </p:spPr>
        <p:txBody>
          <a:bodyPr wrap="square" lIns="0" tIns="0" rIns="0" bIns="0" rtlCol="0" anchor="ctr"/>
          <a:lstStyle/>
          <a:p>
            <a:pPr indent="0" marL="0">
              <a:buNone/>
            </a:pPr>
            <a:r>
              <a:rPr lang="en-US" sz="1000" dirty="0">
                <a:solidFill>
                  <a:srgbClr val="A7ADC6"/>
                </a:solidFill>
                <a:latin typeface="Inter" pitchFamily="34" charset="0"/>
                <a:ea typeface="Inter" pitchFamily="34" charset="-122"/>
                <a:cs typeface="Inter" pitchFamily="34" charset="-120"/>
              </a:rPr>
              <a:t>One page component owns loading; ReaderView and OwnerView swap in based on auth; ProjectCard is the shared leaf.</a:t>
            </a:r>
            <a:endParaRPr lang="en-US" sz="1000" dirty="0"/>
          </a:p>
        </p:txBody>
      </p:sp>
      <p:sp>
        <p:nvSpPr>
          <p:cNvPr id="35" name="Shape 33"/>
          <p:cNvSpPr/>
          <p:nvPr/>
        </p:nvSpPr>
        <p:spPr>
          <a:xfrm>
            <a:off x="457200" y="4828032"/>
            <a:ext cx="8229600" cy="0"/>
          </a:xfrm>
          <a:prstGeom prst="line">
            <a:avLst/>
          </a:prstGeom>
          <a:noFill/>
          <a:ln w="9525">
            <a:solidFill>
              <a:srgbClr val="2A3660"/>
            </a:solidFill>
            <a:prstDash val="solid"/>
          </a:ln>
        </p:spPr>
      </p:sp>
      <p:sp>
        <p:nvSpPr>
          <p:cNvPr id="36" name="Text 34"/>
          <p:cNvSpPr/>
          <p:nvPr/>
        </p:nvSpPr>
        <p:spPr>
          <a:xfrm>
            <a:off x="457200" y="4864608"/>
            <a:ext cx="2743200" cy="228600"/>
          </a:xfrm>
          <a:prstGeom prst="rect">
            <a:avLst/>
          </a:prstGeom>
          <a:noFill/>
          <a:ln/>
        </p:spPr>
        <p:txBody>
          <a:bodyPr wrap="square" lIns="0" tIns="0" rIns="0" bIns="0" rtlCol="0" anchor="ctr"/>
          <a:lstStyle/>
          <a:p>
            <a:pPr indent="0" marL="0">
              <a:buNone/>
            </a:pPr>
            <a:r>
              <a:rPr lang="en-US" sz="800" b="1" spc="400" kern="0" dirty="0">
                <a:solidFill>
                  <a:srgbClr val="6E7699"/>
                </a:solidFill>
                <a:latin typeface="Space Grotesk" pitchFamily="34" charset="0"/>
                <a:ea typeface="Space Grotesk" pitchFamily="34" charset="-122"/>
                <a:cs typeface="Space Grotesk" pitchFamily="34" charset="-120"/>
              </a:rPr>
              <a:t>ARCHITECT.DEV</a:t>
            </a:r>
            <a:endParaRPr lang="en-US" sz="800" dirty="0"/>
          </a:p>
        </p:txBody>
      </p:sp>
      <p:sp>
        <p:nvSpPr>
          <p:cNvPr id="37" name="Text 35"/>
          <p:cNvSpPr/>
          <p:nvPr/>
        </p:nvSpPr>
        <p:spPr>
          <a:xfrm>
            <a:off x="6400800" y="4864608"/>
            <a:ext cx="2286000" cy="228600"/>
          </a:xfrm>
          <a:prstGeom prst="rect">
            <a:avLst/>
          </a:prstGeom>
          <a:noFill/>
          <a:ln/>
        </p:spPr>
        <p:txBody>
          <a:bodyPr wrap="square" lIns="0" tIns="0" rIns="0" bIns="0" rtlCol="0" anchor="ctr"/>
          <a:lstStyle/>
          <a:p>
            <a:pPr algn="r" indent="0" marL="0">
              <a:buNone/>
            </a:pPr>
            <a:r>
              <a:rPr lang="en-US" sz="800" dirty="0">
                <a:solidFill>
                  <a:srgbClr val="6E7699"/>
                </a:solidFill>
                <a:latin typeface="Space Grotesk" pitchFamily="34" charset="0"/>
                <a:ea typeface="Space Grotesk" pitchFamily="34" charset="-122"/>
                <a:cs typeface="Space Grotesk" pitchFamily="34" charset="-120"/>
              </a:rPr>
              <a:t>6 / 12</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326"/>
        </a:solidFill>
      </p:bgPr>
    </p:bg>
    <p:spTree>
      <p:nvGrpSpPr>
        <p:cNvPr id="1" name=""/>
        <p:cNvGrpSpPr/>
        <p:nvPr/>
      </p:nvGrpSpPr>
      <p:grpSpPr>
        <a:xfrm>
          <a:off x="0" y="0"/>
          <a:ext cx="0" cy="0"/>
          <a:chOff x="0" y="0"/>
          <a:chExt cx="0" cy="0"/>
        </a:xfrm>
      </p:grpSpPr>
      <p:sp>
        <p:nvSpPr>
          <p:cNvPr id="2" name="Text 0"/>
          <p:cNvSpPr/>
          <p:nvPr/>
        </p:nvSpPr>
        <p:spPr>
          <a:xfrm>
            <a:off x="457200" y="365760"/>
            <a:ext cx="8229600" cy="228600"/>
          </a:xfrm>
          <a:prstGeom prst="rect">
            <a:avLst/>
          </a:prstGeom>
          <a:noFill/>
          <a:ln/>
        </p:spPr>
        <p:txBody>
          <a:bodyPr wrap="square" lIns="0" tIns="0" rIns="0" bIns="0" rtlCol="0" anchor="ctr"/>
          <a:lstStyle/>
          <a:p>
            <a:pPr indent="0" marL="0">
              <a:buNone/>
            </a:pPr>
            <a:r>
              <a:rPr lang="en-US" sz="1000" b="1" spc="600" kern="0" dirty="0">
                <a:solidFill>
                  <a:srgbClr val="C0C1FF"/>
                </a:solidFill>
                <a:latin typeface="Space Grotesk" pitchFamily="34" charset="0"/>
                <a:ea typeface="Space Grotesk" pitchFamily="34" charset="-122"/>
                <a:cs typeface="Space Grotesk" pitchFamily="34" charset="-120"/>
              </a:rPr>
              <a:t>06 · BACKEND</a:t>
            </a:r>
            <a:endParaRPr lang="en-US" sz="1000" dirty="0"/>
          </a:p>
        </p:txBody>
      </p:sp>
      <p:sp>
        <p:nvSpPr>
          <p:cNvPr id="3" name="Text 1"/>
          <p:cNvSpPr/>
          <p:nvPr/>
        </p:nvSpPr>
        <p:spPr>
          <a:xfrm>
            <a:off x="457200" y="685800"/>
            <a:ext cx="8229600" cy="1188720"/>
          </a:xfrm>
          <a:prstGeom prst="rect">
            <a:avLst/>
          </a:prstGeom>
          <a:noFill/>
          <a:ln/>
        </p:spPr>
        <p:txBody>
          <a:bodyPr wrap="square" lIns="0" tIns="0" rIns="0" bIns="0" rtlCol="0" anchor="ctr"/>
          <a:lstStyle/>
          <a:p>
            <a:pPr indent="0" marL="0">
              <a:buNone/>
            </a:pPr>
            <a:r>
              <a:rPr lang="en-US" sz="3000" b="1" dirty="0">
                <a:solidFill>
                  <a:srgbClr val="FFFFFF"/>
                </a:solidFill>
                <a:latin typeface="Space Grotesk" pitchFamily="34" charset="0"/>
                <a:ea typeface="Space Grotesk" pitchFamily="34" charset="-122"/>
                <a:cs typeface="Space Grotesk" pitchFamily="34" charset="-120"/>
              </a:rPr>
              <a:t>Supabase — Postgres</a:t>
            </a:r>
            <a:endParaRPr lang="en-US" sz="3000" dirty="0"/>
          </a:p>
          <a:p>
            <a:pPr indent="0" marL="0">
              <a:buNone/>
            </a:pPr>
            <a:r>
              <a:rPr lang="en-US" sz="3000" b="1" dirty="0">
                <a:solidFill>
                  <a:srgbClr val="FFFFFF"/>
                </a:solidFill>
                <a:latin typeface="Space Grotesk" pitchFamily="34" charset="0"/>
                <a:ea typeface="Space Grotesk" pitchFamily="34" charset="-122"/>
                <a:cs typeface="Space Grotesk" pitchFamily="34" charset="-120"/>
              </a:rPr>
              <a:t>with auth included.</a:t>
            </a:r>
            <a:endParaRPr lang="en-US" sz="3000" dirty="0"/>
          </a:p>
        </p:txBody>
      </p:sp>
      <p:sp>
        <p:nvSpPr>
          <p:cNvPr id="4" name="Text 2"/>
          <p:cNvSpPr/>
          <p:nvPr/>
        </p:nvSpPr>
        <p:spPr>
          <a:xfrm>
            <a:off x="457200" y="2286000"/>
            <a:ext cx="3931920" cy="320040"/>
          </a:xfrm>
          <a:prstGeom prst="rect">
            <a:avLst/>
          </a:prstGeom>
          <a:noFill/>
          <a:ln/>
        </p:spPr>
        <p:txBody>
          <a:bodyPr wrap="square" lIns="0" tIns="0" rIns="0" bIns="0" rtlCol="0" anchor="ctr"/>
          <a:lstStyle/>
          <a:p>
            <a:pPr indent="0" marL="0">
              <a:buNone/>
            </a:pPr>
            <a:r>
              <a:rPr lang="en-US" sz="1300" b="1" spc="400" kern="0" dirty="0">
                <a:solidFill>
                  <a:srgbClr val="C0C1FF"/>
                </a:solidFill>
                <a:latin typeface="Space Grotesk" pitchFamily="34" charset="0"/>
                <a:ea typeface="Space Grotesk" pitchFamily="34" charset="-122"/>
                <a:cs typeface="Space Grotesk" pitchFamily="34" charset="-120"/>
              </a:rPr>
              <a:t>Four tables</a:t>
            </a:r>
            <a:endParaRPr lang="en-US" sz="1300" dirty="0"/>
          </a:p>
        </p:txBody>
      </p:sp>
      <p:sp>
        <p:nvSpPr>
          <p:cNvPr id="5" name="Shape 3"/>
          <p:cNvSpPr/>
          <p:nvPr/>
        </p:nvSpPr>
        <p:spPr>
          <a:xfrm>
            <a:off x="457200" y="2697480"/>
            <a:ext cx="1554480" cy="347472"/>
          </a:xfrm>
          <a:prstGeom prst="rect">
            <a:avLst/>
          </a:prstGeom>
          <a:solidFill>
            <a:srgbClr val="141F3D"/>
          </a:solidFill>
          <a:ln w="9525">
            <a:solidFill>
              <a:srgbClr val="2A3660"/>
            </a:solidFill>
            <a:prstDash val="solid"/>
          </a:ln>
        </p:spPr>
      </p:sp>
      <p:sp>
        <p:nvSpPr>
          <p:cNvPr id="6" name="Text 4"/>
          <p:cNvSpPr/>
          <p:nvPr/>
        </p:nvSpPr>
        <p:spPr>
          <a:xfrm>
            <a:off x="457200" y="2697480"/>
            <a:ext cx="155448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profiles</a:t>
            </a:r>
            <a:endParaRPr lang="en-US" sz="1100" dirty="0"/>
          </a:p>
        </p:txBody>
      </p:sp>
      <p:sp>
        <p:nvSpPr>
          <p:cNvPr id="7" name="Text 5"/>
          <p:cNvSpPr/>
          <p:nvPr/>
        </p:nvSpPr>
        <p:spPr>
          <a:xfrm>
            <a:off x="2103120" y="2743200"/>
            <a:ext cx="2468880" cy="274320"/>
          </a:xfrm>
          <a:prstGeom prst="rect">
            <a:avLst/>
          </a:prstGeom>
          <a:noFill/>
          <a:ln/>
        </p:spPr>
        <p:txBody>
          <a:bodyPr wrap="square" lIns="0" tIns="0" rIns="0" bIns="0" rtlCol="0" anchor="ctr"/>
          <a:lstStyle/>
          <a:p>
            <a:pPr indent="0" marL="0">
              <a:buNone/>
            </a:pPr>
            <a:r>
              <a:rPr lang="en-US" sz="1100" dirty="0">
                <a:solidFill>
                  <a:srgbClr val="A7ADC6"/>
                </a:solidFill>
                <a:latin typeface="Inter" pitchFamily="34" charset="0"/>
                <a:ea typeface="Inter" pitchFamily="34" charset="-122"/>
                <a:cs typeface="Inter" pitchFamily="34" charset="-120"/>
              </a:rPr>
              <a:t>one row per user · bio, display_name</a:t>
            </a:r>
            <a:endParaRPr lang="en-US" sz="1100" dirty="0"/>
          </a:p>
        </p:txBody>
      </p:sp>
      <p:sp>
        <p:nvSpPr>
          <p:cNvPr id="8" name="Shape 6"/>
          <p:cNvSpPr/>
          <p:nvPr/>
        </p:nvSpPr>
        <p:spPr>
          <a:xfrm>
            <a:off x="457200" y="3154680"/>
            <a:ext cx="1554480" cy="347472"/>
          </a:xfrm>
          <a:prstGeom prst="rect">
            <a:avLst/>
          </a:prstGeom>
          <a:solidFill>
            <a:srgbClr val="141F3D"/>
          </a:solidFill>
          <a:ln w="9525">
            <a:solidFill>
              <a:srgbClr val="2A3660"/>
            </a:solidFill>
            <a:prstDash val="solid"/>
          </a:ln>
        </p:spPr>
      </p:sp>
      <p:sp>
        <p:nvSpPr>
          <p:cNvPr id="9" name="Text 7"/>
          <p:cNvSpPr/>
          <p:nvPr/>
        </p:nvSpPr>
        <p:spPr>
          <a:xfrm>
            <a:off x="457200" y="3154680"/>
            <a:ext cx="155448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folders</a:t>
            </a:r>
            <a:endParaRPr lang="en-US" sz="1100" dirty="0"/>
          </a:p>
        </p:txBody>
      </p:sp>
      <p:sp>
        <p:nvSpPr>
          <p:cNvPr id="10" name="Text 8"/>
          <p:cNvSpPr/>
          <p:nvPr/>
        </p:nvSpPr>
        <p:spPr>
          <a:xfrm>
            <a:off x="2103120" y="3200400"/>
            <a:ext cx="2468880" cy="274320"/>
          </a:xfrm>
          <a:prstGeom prst="rect">
            <a:avLst/>
          </a:prstGeom>
          <a:noFill/>
          <a:ln/>
        </p:spPr>
        <p:txBody>
          <a:bodyPr wrap="square" lIns="0" tIns="0" rIns="0" bIns="0" rtlCol="0" anchor="ctr"/>
          <a:lstStyle/>
          <a:p>
            <a:pPr indent="0" marL="0">
              <a:buNone/>
            </a:pPr>
            <a:r>
              <a:rPr lang="en-US" sz="1100" dirty="0">
                <a:solidFill>
                  <a:srgbClr val="A7ADC6"/>
                </a:solidFill>
                <a:latin typeface="Inter" pitchFamily="34" charset="0"/>
                <a:ea typeface="Inter" pitchFamily="34" charset="-122"/>
                <a:cs typeface="Inter" pitchFamily="34" charset="-120"/>
              </a:rPr>
              <a:t>grouping for projects · name, position</a:t>
            </a:r>
            <a:endParaRPr lang="en-US" sz="1100" dirty="0"/>
          </a:p>
        </p:txBody>
      </p:sp>
      <p:sp>
        <p:nvSpPr>
          <p:cNvPr id="11" name="Shape 9"/>
          <p:cNvSpPr/>
          <p:nvPr/>
        </p:nvSpPr>
        <p:spPr>
          <a:xfrm>
            <a:off x="457200" y="3611880"/>
            <a:ext cx="1554480" cy="347472"/>
          </a:xfrm>
          <a:prstGeom prst="rect">
            <a:avLst/>
          </a:prstGeom>
          <a:solidFill>
            <a:srgbClr val="141F3D"/>
          </a:solidFill>
          <a:ln w="9525">
            <a:solidFill>
              <a:srgbClr val="2A3660"/>
            </a:solidFill>
            <a:prstDash val="solid"/>
          </a:ln>
        </p:spPr>
      </p:sp>
      <p:sp>
        <p:nvSpPr>
          <p:cNvPr id="12" name="Text 10"/>
          <p:cNvSpPr/>
          <p:nvPr/>
        </p:nvSpPr>
        <p:spPr>
          <a:xfrm>
            <a:off x="457200" y="3611880"/>
            <a:ext cx="155448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portfolio_items</a:t>
            </a:r>
            <a:endParaRPr lang="en-US" sz="1100" dirty="0"/>
          </a:p>
        </p:txBody>
      </p:sp>
      <p:sp>
        <p:nvSpPr>
          <p:cNvPr id="13" name="Text 11"/>
          <p:cNvSpPr/>
          <p:nvPr/>
        </p:nvSpPr>
        <p:spPr>
          <a:xfrm>
            <a:off x="2103120" y="3657600"/>
            <a:ext cx="2468880" cy="274320"/>
          </a:xfrm>
          <a:prstGeom prst="rect">
            <a:avLst/>
          </a:prstGeom>
          <a:noFill/>
          <a:ln/>
        </p:spPr>
        <p:txBody>
          <a:bodyPr wrap="square" lIns="0" tIns="0" rIns="0" bIns="0" rtlCol="0" anchor="ctr"/>
          <a:lstStyle/>
          <a:p>
            <a:pPr indent="0" marL="0">
              <a:buNone/>
            </a:pPr>
            <a:r>
              <a:rPr lang="en-US" sz="1100" dirty="0">
                <a:solidFill>
                  <a:srgbClr val="A7ADC6"/>
                </a:solidFill>
                <a:latin typeface="Inter" pitchFamily="34" charset="0"/>
                <a:ea typeface="Inter" pitchFamily="34" charset="-122"/>
                <a:cs typeface="Inter" pitchFamily="34" charset="-120"/>
              </a:rPr>
              <a:t>which repos show · order, hidden flag</a:t>
            </a:r>
            <a:endParaRPr lang="en-US" sz="1100" dirty="0"/>
          </a:p>
        </p:txBody>
      </p:sp>
      <p:sp>
        <p:nvSpPr>
          <p:cNvPr id="14" name="Shape 12"/>
          <p:cNvSpPr/>
          <p:nvPr/>
        </p:nvSpPr>
        <p:spPr>
          <a:xfrm>
            <a:off x="457200" y="4069080"/>
            <a:ext cx="1554480" cy="347472"/>
          </a:xfrm>
          <a:prstGeom prst="rect">
            <a:avLst/>
          </a:prstGeom>
          <a:solidFill>
            <a:srgbClr val="141F3D"/>
          </a:solidFill>
          <a:ln w="9525">
            <a:solidFill>
              <a:srgbClr val="2A3660"/>
            </a:solidFill>
            <a:prstDash val="solid"/>
          </a:ln>
        </p:spPr>
      </p:sp>
      <p:sp>
        <p:nvSpPr>
          <p:cNvPr id="15" name="Text 13"/>
          <p:cNvSpPr/>
          <p:nvPr/>
        </p:nvSpPr>
        <p:spPr>
          <a:xfrm>
            <a:off x="457200" y="4069080"/>
            <a:ext cx="1554480"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cvs</a:t>
            </a:r>
            <a:endParaRPr lang="en-US" sz="1100" dirty="0"/>
          </a:p>
        </p:txBody>
      </p:sp>
      <p:sp>
        <p:nvSpPr>
          <p:cNvPr id="16" name="Text 14"/>
          <p:cNvSpPr/>
          <p:nvPr/>
        </p:nvSpPr>
        <p:spPr>
          <a:xfrm>
            <a:off x="2103120" y="4114800"/>
            <a:ext cx="2468880" cy="274320"/>
          </a:xfrm>
          <a:prstGeom prst="rect">
            <a:avLst/>
          </a:prstGeom>
          <a:noFill/>
          <a:ln/>
        </p:spPr>
        <p:txBody>
          <a:bodyPr wrap="square" lIns="0" tIns="0" rIns="0" bIns="0" rtlCol="0" anchor="ctr"/>
          <a:lstStyle/>
          <a:p>
            <a:pPr indent="0" marL="0">
              <a:buNone/>
            </a:pPr>
            <a:r>
              <a:rPr lang="en-US" sz="1100" dirty="0">
                <a:solidFill>
                  <a:srgbClr val="A7ADC6"/>
                </a:solidFill>
                <a:latin typeface="Inter" pitchFamily="34" charset="0"/>
                <a:ea typeface="Inter" pitchFamily="34" charset="-122"/>
                <a:cs typeface="Inter" pitchFamily="34" charset="-120"/>
              </a:rPr>
              <a:t>per-user CV stored as JSON</a:t>
            </a:r>
            <a:endParaRPr lang="en-US" sz="1100" dirty="0"/>
          </a:p>
        </p:txBody>
      </p:sp>
      <p:sp>
        <p:nvSpPr>
          <p:cNvPr id="17" name="Text 15"/>
          <p:cNvSpPr/>
          <p:nvPr/>
        </p:nvSpPr>
        <p:spPr>
          <a:xfrm>
            <a:off x="4754880" y="2286000"/>
            <a:ext cx="3931920" cy="320040"/>
          </a:xfrm>
          <a:prstGeom prst="rect">
            <a:avLst/>
          </a:prstGeom>
          <a:noFill/>
          <a:ln/>
        </p:spPr>
        <p:txBody>
          <a:bodyPr wrap="square" lIns="0" tIns="0" rIns="0" bIns="0" rtlCol="0" anchor="ctr"/>
          <a:lstStyle/>
          <a:p>
            <a:pPr indent="0" marL="0">
              <a:buNone/>
            </a:pPr>
            <a:r>
              <a:rPr lang="en-US" sz="1300" b="1" spc="400" kern="0" dirty="0">
                <a:solidFill>
                  <a:srgbClr val="C0C1FF"/>
                </a:solidFill>
                <a:latin typeface="Space Grotesk" pitchFamily="34" charset="0"/>
                <a:ea typeface="Space Grotesk" pitchFamily="34" charset="-122"/>
                <a:cs typeface="Space Grotesk" pitchFamily="34" charset="-120"/>
              </a:rPr>
              <a:t>What Supabase handles</a:t>
            </a:r>
            <a:endParaRPr lang="en-US" sz="1300" dirty="0"/>
          </a:p>
        </p:txBody>
      </p:sp>
      <p:sp>
        <p:nvSpPr>
          <p:cNvPr id="18" name="Shape 16"/>
          <p:cNvSpPr/>
          <p:nvPr/>
        </p:nvSpPr>
        <p:spPr>
          <a:xfrm>
            <a:off x="4754880" y="2761488"/>
            <a:ext cx="91440" cy="91440"/>
          </a:xfrm>
          <a:prstGeom prst="ellipse">
            <a:avLst/>
          </a:prstGeom>
          <a:solidFill>
            <a:srgbClr val="C0C1FF"/>
          </a:solidFill>
          <a:ln w="12700">
            <a:solidFill>
              <a:srgbClr val="C0C1FF"/>
            </a:solidFill>
            <a:prstDash val="solid"/>
          </a:ln>
        </p:spPr>
      </p:sp>
      <p:sp>
        <p:nvSpPr>
          <p:cNvPr id="19" name="Text 17"/>
          <p:cNvSpPr/>
          <p:nvPr/>
        </p:nvSpPr>
        <p:spPr>
          <a:xfrm>
            <a:off x="4937760" y="2651760"/>
            <a:ext cx="3749040" cy="274320"/>
          </a:xfrm>
          <a:prstGeom prst="rect">
            <a:avLst/>
          </a:prstGeom>
          <a:noFill/>
          <a:ln/>
        </p:spPr>
        <p:txBody>
          <a:bodyPr wrap="square" lIns="0" tIns="0" rIns="0" bIns="0" rtlCol="0" anchor="ctr"/>
          <a:lstStyle/>
          <a:p>
            <a:pPr indent="0" marL="0">
              <a:buNone/>
            </a:pPr>
            <a:r>
              <a:rPr lang="en-US" sz="1200" b="1" dirty="0">
                <a:solidFill>
                  <a:srgbClr val="FFFFFF"/>
                </a:solidFill>
                <a:latin typeface="Space Grotesk" pitchFamily="34" charset="0"/>
                <a:ea typeface="Space Grotesk" pitchFamily="34" charset="-122"/>
                <a:cs typeface="Space Grotesk" pitchFamily="34" charset="-120"/>
              </a:rPr>
              <a:t>GitHub OAuth</a:t>
            </a:r>
            <a:endParaRPr lang="en-US" sz="1200" dirty="0"/>
          </a:p>
        </p:txBody>
      </p:sp>
      <p:sp>
        <p:nvSpPr>
          <p:cNvPr id="20" name="Text 18"/>
          <p:cNvSpPr/>
          <p:nvPr/>
        </p:nvSpPr>
        <p:spPr>
          <a:xfrm>
            <a:off x="4937760" y="2926080"/>
            <a:ext cx="3749040" cy="274320"/>
          </a:xfrm>
          <a:prstGeom prst="rect">
            <a:avLst/>
          </a:prstGeom>
          <a:noFill/>
          <a:ln/>
        </p:spPr>
        <p:txBody>
          <a:bodyPr wrap="square" lIns="0" tIns="0" rIns="0" bIns="0" rtlCol="0" anchor="ctr"/>
          <a:lstStyle/>
          <a:p>
            <a:pPr indent="0" marL="0">
              <a:buNone/>
            </a:pPr>
            <a:r>
              <a:rPr lang="en-US" sz="1050" dirty="0">
                <a:solidFill>
                  <a:srgbClr val="A7ADC6"/>
                </a:solidFill>
                <a:latin typeface="Inter" pitchFamily="34" charset="0"/>
                <a:ea typeface="Inter" pitchFamily="34" charset="-122"/>
                <a:cs typeface="Inter" pitchFamily="34" charset="-120"/>
              </a:rPr>
              <a:t>Out of the box. onAuthStateChange drives the app's logged-in state.</a:t>
            </a:r>
            <a:endParaRPr lang="en-US" sz="1050" dirty="0"/>
          </a:p>
        </p:txBody>
      </p:sp>
      <p:sp>
        <p:nvSpPr>
          <p:cNvPr id="21" name="Shape 19"/>
          <p:cNvSpPr/>
          <p:nvPr/>
        </p:nvSpPr>
        <p:spPr>
          <a:xfrm>
            <a:off x="4754880" y="3236976"/>
            <a:ext cx="91440" cy="91440"/>
          </a:xfrm>
          <a:prstGeom prst="ellipse">
            <a:avLst/>
          </a:prstGeom>
          <a:solidFill>
            <a:srgbClr val="C0C1FF"/>
          </a:solidFill>
          <a:ln w="12700">
            <a:solidFill>
              <a:srgbClr val="C0C1FF"/>
            </a:solidFill>
            <a:prstDash val="solid"/>
          </a:ln>
        </p:spPr>
      </p:sp>
      <p:sp>
        <p:nvSpPr>
          <p:cNvPr id="22" name="Text 20"/>
          <p:cNvSpPr/>
          <p:nvPr/>
        </p:nvSpPr>
        <p:spPr>
          <a:xfrm>
            <a:off x="4937760" y="3127248"/>
            <a:ext cx="3749040" cy="274320"/>
          </a:xfrm>
          <a:prstGeom prst="rect">
            <a:avLst/>
          </a:prstGeom>
          <a:noFill/>
          <a:ln/>
        </p:spPr>
        <p:txBody>
          <a:bodyPr wrap="square" lIns="0" tIns="0" rIns="0" bIns="0" rtlCol="0" anchor="ctr"/>
          <a:lstStyle/>
          <a:p>
            <a:pPr indent="0" marL="0">
              <a:buNone/>
            </a:pPr>
            <a:r>
              <a:rPr lang="en-US" sz="1200" b="1" dirty="0">
                <a:solidFill>
                  <a:srgbClr val="FFFFFF"/>
                </a:solidFill>
                <a:latin typeface="Space Grotesk" pitchFamily="34" charset="0"/>
                <a:ea typeface="Space Grotesk" pitchFamily="34" charset="-122"/>
                <a:cs typeface="Space Grotesk" pitchFamily="34" charset="-120"/>
              </a:rPr>
              <a:t>Row-level security</a:t>
            </a:r>
            <a:endParaRPr lang="en-US" sz="1200" dirty="0"/>
          </a:p>
        </p:txBody>
      </p:sp>
      <p:sp>
        <p:nvSpPr>
          <p:cNvPr id="23" name="Text 21"/>
          <p:cNvSpPr/>
          <p:nvPr/>
        </p:nvSpPr>
        <p:spPr>
          <a:xfrm>
            <a:off x="4937760" y="3401568"/>
            <a:ext cx="3749040" cy="274320"/>
          </a:xfrm>
          <a:prstGeom prst="rect">
            <a:avLst/>
          </a:prstGeom>
          <a:noFill/>
          <a:ln/>
        </p:spPr>
        <p:txBody>
          <a:bodyPr wrap="square" lIns="0" tIns="0" rIns="0" bIns="0" rtlCol="0" anchor="ctr"/>
          <a:lstStyle/>
          <a:p>
            <a:pPr indent="0" marL="0">
              <a:buNone/>
            </a:pPr>
            <a:r>
              <a:rPr lang="en-US" sz="1050" dirty="0">
                <a:solidFill>
                  <a:srgbClr val="A7ADC6"/>
                </a:solidFill>
                <a:latin typeface="Inter" pitchFamily="34" charset="0"/>
                <a:ea typeface="Inter" pitchFamily="34" charset="-122"/>
                <a:cs typeface="Inter" pitchFamily="34" charset="-120"/>
              </a:rPr>
              <a:t>Edits require the user's own ID — enforced at the database, not in code.</a:t>
            </a:r>
            <a:endParaRPr lang="en-US" sz="1050" dirty="0"/>
          </a:p>
        </p:txBody>
      </p:sp>
      <p:sp>
        <p:nvSpPr>
          <p:cNvPr id="24" name="Shape 22"/>
          <p:cNvSpPr/>
          <p:nvPr/>
        </p:nvSpPr>
        <p:spPr>
          <a:xfrm>
            <a:off x="4754880" y="3712464"/>
            <a:ext cx="91440" cy="91440"/>
          </a:xfrm>
          <a:prstGeom prst="ellipse">
            <a:avLst/>
          </a:prstGeom>
          <a:solidFill>
            <a:srgbClr val="C0C1FF"/>
          </a:solidFill>
          <a:ln w="12700">
            <a:solidFill>
              <a:srgbClr val="C0C1FF"/>
            </a:solidFill>
            <a:prstDash val="solid"/>
          </a:ln>
        </p:spPr>
      </p:sp>
      <p:sp>
        <p:nvSpPr>
          <p:cNvPr id="25" name="Text 23"/>
          <p:cNvSpPr/>
          <p:nvPr/>
        </p:nvSpPr>
        <p:spPr>
          <a:xfrm>
            <a:off x="4937760" y="3602736"/>
            <a:ext cx="3749040" cy="274320"/>
          </a:xfrm>
          <a:prstGeom prst="rect">
            <a:avLst/>
          </a:prstGeom>
          <a:noFill/>
          <a:ln/>
        </p:spPr>
        <p:txBody>
          <a:bodyPr wrap="square" lIns="0" tIns="0" rIns="0" bIns="0" rtlCol="0" anchor="ctr"/>
          <a:lstStyle/>
          <a:p>
            <a:pPr indent="0" marL="0">
              <a:buNone/>
            </a:pPr>
            <a:r>
              <a:rPr lang="en-US" sz="1200" b="1" dirty="0">
                <a:solidFill>
                  <a:srgbClr val="FFFFFF"/>
                </a:solidFill>
                <a:latin typeface="Space Grotesk" pitchFamily="34" charset="0"/>
                <a:ea typeface="Space Grotesk" pitchFamily="34" charset="-122"/>
                <a:cs typeface="Space Grotesk" pitchFamily="34" charset="-120"/>
              </a:rPr>
              <a:t>Typed SDK</a:t>
            </a:r>
            <a:endParaRPr lang="en-US" sz="1200" dirty="0"/>
          </a:p>
        </p:txBody>
      </p:sp>
      <p:sp>
        <p:nvSpPr>
          <p:cNvPr id="26" name="Text 24"/>
          <p:cNvSpPr/>
          <p:nvPr/>
        </p:nvSpPr>
        <p:spPr>
          <a:xfrm>
            <a:off x="4937760" y="3877056"/>
            <a:ext cx="3749040" cy="274320"/>
          </a:xfrm>
          <a:prstGeom prst="rect">
            <a:avLst/>
          </a:prstGeom>
          <a:noFill/>
          <a:ln/>
        </p:spPr>
        <p:txBody>
          <a:bodyPr wrap="square" lIns="0" tIns="0" rIns="0" bIns="0" rtlCol="0" anchor="ctr"/>
          <a:lstStyle/>
          <a:p>
            <a:pPr indent="0" marL="0">
              <a:buNone/>
            </a:pPr>
            <a:r>
              <a:rPr lang="en-US" sz="1050" dirty="0">
                <a:solidFill>
                  <a:srgbClr val="A7ADC6"/>
                </a:solidFill>
                <a:latin typeface="Inter" pitchFamily="34" charset="0"/>
                <a:ea typeface="Inter" pitchFamily="34" charset="-122"/>
                <a:cs typeface="Inter" pitchFamily="34" charset="-120"/>
              </a:rPr>
              <a:t>supabase-js returns typed rows — selects, inserts, updates, deletes.</a:t>
            </a:r>
            <a:endParaRPr lang="en-US" sz="1050" dirty="0"/>
          </a:p>
        </p:txBody>
      </p:sp>
      <p:sp>
        <p:nvSpPr>
          <p:cNvPr id="27" name="Shape 25"/>
          <p:cNvSpPr/>
          <p:nvPr/>
        </p:nvSpPr>
        <p:spPr>
          <a:xfrm>
            <a:off x="4754880" y="4187952"/>
            <a:ext cx="91440" cy="91440"/>
          </a:xfrm>
          <a:prstGeom prst="ellipse">
            <a:avLst/>
          </a:prstGeom>
          <a:solidFill>
            <a:srgbClr val="C0C1FF"/>
          </a:solidFill>
          <a:ln w="12700">
            <a:solidFill>
              <a:srgbClr val="C0C1FF"/>
            </a:solidFill>
            <a:prstDash val="solid"/>
          </a:ln>
        </p:spPr>
      </p:sp>
      <p:sp>
        <p:nvSpPr>
          <p:cNvPr id="28" name="Text 26"/>
          <p:cNvSpPr/>
          <p:nvPr/>
        </p:nvSpPr>
        <p:spPr>
          <a:xfrm>
            <a:off x="4937760" y="4078224"/>
            <a:ext cx="3749040" cy="274320"/>
          </a:xfrm>
          <a:prstGeom prst="rect">
            <a:avLst/>
          </a:prstGeom>
          <a:noFill/>
          <a:ln/>
        </p:spPr>
        <p:txBody>
          <a:bodyPr wrap="square" lIns="0" tIns="0" rIns="0" bIns="0" rtlCol="0" anchor="ctr"/>
          <a:lstStyle/>
          <a:p>
            <a:pPr indent="0" marL="0">
              <a:buNone/>
            </a:pPr>
            <a:r>
              <a:rPr lang="en-US" sz="1200" b="1" dirty="0">
                <a:solidFill>
                  <a:srgbClr val="FFFFFF"/>
                </a:solidFill>
                <a:latin typeface="Space Grotesk" pitchFamily="34" charset="0"/>
                <a:ea typeface="Space Grotesk" pitchFamily="34" charset="-122"/>
                <a:cs typeface="Space Grotesk" pitchFamily="34" charset="-120"/>
              </a:rPr>
              <a:t>No server to deploy</a:t>
            </a:r>
            <a:endParaRPr lang="en-US" sz="1200" dirty="0"/>
          </a:p>
        </p:txBody>
      </p:sp>
      <p:sp>
        <p:nvSpPr>
          <p:cNvPr id="29" name="Text 27"/>
          <p:cNvSpPr/>
          <p:nvPr/>
        </p:nvSpPr>
        <p:spPr>
          <a:xfrm>
            <a:off x="4937760" y="4352544"/>
            <a:ext cx="3749040" cy="274320"/>
          </a:xfrm>
          <a:prstGeom prst="rect">
            <a:avLst/>
          </a:prstGeom>
          <a:noFill/>
          <a:ln/>
        </p:spPr>
        <p:txBody>
          <a:bodyPr wrap="square" lIns="0" tIns="0" rIns="0" bIns="0" rtlCol="0" anchor="ctr"/>
          <a:lstStyle/>
          <a:p>
            <a:pPr indent="0" marL="0">
              <a:buNone/>
            </a:pPr>
            <a:r>
              <a:rPr lang="en-US" sz="1050" dirty="0">
                <a:solidFill>
                  <a:srgbClr val="A7ADC6"/>
                </a:solidFill>
                <a:latin typeface="Inter" pitchFamily="34" charset="0"/>
                <a:ea typeface="Inter" pitchFamily="34" charset="-122"/>
                <a:cs typeface="Inter" pitchFamily="34" charset="-120"/>
              </a:rPr>
              <a:t>The app runs in the browser and talks to Supabase directly.</a:t>
            </a:r>
            <a:endParaRPr lang="en-US" sz="1050" dirty="0"/>
          </a:p>
        </p:txBody>
      </p:sp>
      <p:sp>
        <p:nvSpPr>
          <p:cNvPr id="30" name="Shape 28"/>
          <p:cNvSpPr/>
          <p:nvPr/>
        </p:nvSpPr>
        <p:spPr>
          <a:xfrm>
            <a:off x="457200" y="4828032"/>
            <a:ext cx="8229600" cy="0"/>
          </a:xfrm>
          <a:prstGeom prst="line">
            <a:avLst/>
          </a:prstGeom>
          <a:noFill/>
          <a:ln w="9525">
            <a:solidFill>
              <a:srgbClr val="2A3660"/>
            </a:solidFill>
            <a:prstDash val="solid"/>
          </a:ln>
        </p:spPr>
      </p:sp>
      <p:sp>
        <p:nvSpPr>
          <p:cNvPr id="31" name="Text 29"/>
          <p:cNvSpPr/>
          <p:nvPr/>
        </p:nvSpPr>
        <p:spPr>
          <a:xfrm>
            <a:off x="457200" y="4864608"/>
            <a:ext cx="2743200" cy="228600"/>
          </a:xfrm>
          <a:prstGeom prst="rect">
            <a:avLst/>
          </a:prstGeom>
          <a:noFill/>
          <a:ln/>
        </p:spPr>
        <p:txBody>
          <a:bodyPr wrap="square" lIns="0" tIns="0" rIns="0" bIns="0" rtlCol="0" anchor="ctr"/>
          <a:lstStyle/>
          <a:p>
            <a:pPr indent="0" marL="0">
              <a:buNone/>
            </a:pPr>
            <a:r>
              <a:rPr lang="en-US" sz="800" b="1" spc="400" kern="0" dirty="0">
                <a:solidFill>
                  <a:srgbClr val="6E7699"/>
                </a:solidFill>
                <a:latin typeface="Space Grotesk" pitchFamily="34" charset="0"/>
                <a:ea typeface="Space Grotesk" pitchFamily="34" charset="-122"/>
                <a:cs typeface="Space Grotesk" pitchFamily="34" charset="-120"/>
              </a:rPr>
              <a:t>ARCHITECT.DEV</a:t>
            </a:r>
            <a:endParaRPr lang="en-US" sz="800" dirty="0"/>
          </a:p>
        </p:txBody>
      </p:sp>
      <p:sp>
        <p:nvSpPr>
          <p:cNvPr id="32" name="Text 30"/>
          <p:cNvSpPr/>
          <p:nvPr/>
        </p:nvSpPr>
        <p:spPr>
          <a:xfrm>
            <a:off x="6400800" y="4864608"/>
            <a:ext cx="2286000" cy="228600"/>
          </a:xfrm>
          <a:prstGeom prst="rect">
            <a:avLst/>
          </a:prstGeom>
          <a:noFill/>
          <a:ln/>
        </p:spPr>
        <p:txBody>
          <a:bodyPr wrap="square" lIns="0" tIns="0" rIns="0" bIns="0" rtlCol="0" anchor="ctr"/>
          <a:lstStyle/>
          <a:p>
            <a:pPr algn="r" indent="0" marL="0">
              <a:buNone/>
            </a:pPr>
            <a:r>
              <a:rPr lang="en-US" sz="800" dirty="0">
                <a:solidFill>
                  <a:srgbClr val="6E7699"/>
                </a:solidFill>
                <a:latin typeface="Space Grotesk" pitchFamily="34" charset="0"/>
                <a:ea typeface="Space Grotesk" pitchFamily="34" charset="-122"/>
                <a:cs typeface="Space Grotesk" pitchFamily="34" charset="-120"/>
              </a:rPr>
              <a:t>7 / 12</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326"/>
        </a:solidFill>
      </p:bgPr>
    </p:bg>
    <p:spTree>
      <p:nvGrpSpPr>
        <p:cNvPr id="1" name=""/>
        <p:cNvGrpSpPr/>
        <p:nvPr/>
      </p:nvGrpSpPr>
      <p:grpSpPr>
        <a:xfrm>
          <a:off x="0" y="0"/>
          <a:ext cx="0" cy="0"/>
          <a:chOff x="0" y="0"/>
          <a:chExt cx="0" cy="0"/>
        </a:xfrm>
      </p:grpSpPr>
      <p:sp>
        <p:nvSpPr>
          <p:cNvPr id="2" name="Text 0"/>
          <p:cNvSpPr/>
          <p:nvPr/>
        </p:nvSpPr>
        <p:spPr>
          <a:xfrm>
            <a:off x="457200" y="365760"/>
            <a:ext cx="8229600" cy="228600"/>
          </a:xfrm>
          <a:prstGeom prst="rect">
            <a:avLst/>
          </a:prstGeom>
          <a:noFill/>
          <a:ln/>
        </p:spPr>
        <p:txBody>
          <a:bodyPr wrap="square" lIns="0" tIns="0" rIns="0" bIns="0" rtlCol="0" anchor="ctr"/>
          <a:lstStyle/>
          <a:p>
            <a:pPr indent="0" marL="0">
              <a:buNone/>
            </a:pPr>
            <a:r>
              <a:rPr lang="en-US" sz="1000" b="1" spc="600" kern="0" dirty="0">
                <a:solidFill>
                  <a:srgbClr val="C0C1FF"/>
                </a:solidFill>
                <a:latin typeface="Space Grotesk" pitchFamily="34" charset="0"/>
                <a:ea typeface="Space Grotesk" pitchFamily="34" charset="-122"/>
                <a:cs typeface="Space Grotesk" pitchFamily="34" charset="-120"/>
              </a:rPr>
              <a:t>07 · LIVE DATA</a:t>
            </a:r>
            <a:endParaRPr lang="en-US" sz="1000" dirty="0"/>
          </a:p>
        </p:txBody>
      </p:sp>
      <p:sp>
        <p:nvSpPr>
          <p:cNvPr id="3" name="Text 1"/>
          <p:cNvSpPr/>
          <p:nvPr/>
        </p:nvSpPr>
        <p:spPr>
          <a:xfrm>
            <a:off x="457200" y="685800"/>
            <a:ext cx="8229600" cy="1188720"/>
          </a:xfrm>
          <a:prstGeom prst="rect">
            <a:avLst/>
          </a:prstGeom>
          <a:noFill/>
          <a:ln/>
        </p:spPr>
        <p:txBody>
          <a:bodyPr wrap="square" lIns="0" tIns="0" rIns="0" bIns="0" rtlCol="0" anchor="ctr"/>
          <a:lstStyle/>
          <a:p>
            <a:pPr indent="0" marL="0">
              <a:buNone/>
            </a:pPr>
            <a:r>
              <a:rPr lang="en-US" sz="3000" b="1" dirty="0">
                <a:solidFill>
                  <a:srgbClr val="FFFFFF"/>
                </a:solidFill>
                <a:latin typeface="Space Grotesk" pitchFamily="34" charset="0"/>
                <a:ea typeface="Space Grotesk" pitchFamily="34" charset="-122"/>
                <a:cs typeface="Space Grotesk" pitchFamily="34" charset="-120"/>
              </a:rPr>
              <a:t>GitHub API +</a:t>
            </a:r>
            <a:endParaRPr lang="en-US" sz="3000" dirty="0"/>
          </a:p>
          <a:p>
            <a:pPr indent="0" marL="0">
              <a:buNone/>
            </a:pPr>
            <a:r>
              <a:rPr lang="en-US" sz="3000" b="1" dirty="0">
                <a:solidFill>
                  <a:srgbClr val="FFFFFF"/>
                </a:solidFill>
                <a:latin typeface="Space Grotesk" pitchFamily="34" charset="0"/>
                <a:ea typeface="Space Grotesk" pitchFamily="34" charset="-122"/>
                <a:cs typeface="Space Grotesk" pitchFamily="34" charset="-120"/>
              </a:rPr>
              <a:t>portfolio.yaml.</a:t>
            </a:r>
            <a:endParaRPr lang="en-US" sz="3000" dirty="0"/>
          </a:p>
        </p:txBody>
      </p:sp>
      <p:sp>
        <p:nvSpPr>
          <p:cNvPr id="4" name="Text 2"/>
          <p:cNvSpPr/>
          <p:nvPr/>
        </p:nvSpPr>
        <p:spPr>
          <a:xfrm>
            <a:off x="457200" y="2286000"/>
            <a:ext cx="3931920" cy="320040"/>
          </a:xfrm>
          <a:prstGeom prst="rect">
            <a:avLst/>
          </a:prstGeom>
          <a:noFill/>
          <a:ln/>
        </p:spPr>
        <p:txBody>
          <a:bodyPr wrap="square" lIns="0" tIns="0" rIns="0" bIns="0" rtlCol="0" anchor="ctr"/>
          <a:lstStyle/>
          <a:p>
            <a:pPr indent="0" marL="0">
              <a:buNone/>
            </a:pPr>
            <a:r>
              <a:rPr lang="en-US" sz="1300" b="1" spc="400" kern="0" dirty="0">
                <a:solidFill>
                  <a:srgbClr val="C0C1FF"/>
                </a:solidFill>
                <a:latin typeface="Space Grotesk" pitchFamily="34" charset="0"/>
                <a:ea typeface="Space Grotesk" pitchFamily="34" charset="-122"/>
                <a:cs typeface="Space Grotesk" pitchFamily="34" charset="-120"/>
              </a:rPr>
              <a:t>What gets fetched</a:t>
            </a:r>
            <a:endParaRPr lang="en-US" sz="1300" dirty="0"/>
          </a:p>
        </p:txBody>
      </p:sp>
      <p:sp>
        <p:nvSpPr>
          <p:cNvPr id="5" name="Shape 3"/>
          <p:cNvSpPr/>
          <p:nvPr/>
        </p:nvSpPr>
        <p:spPr>
          <a:xfrm>
            <a:off x="457200" y="2697480"/>
            <a:ext cx="4114800" cy="347472"/>
          </a:xfrm>
          <a:prstGeom prst="rect">
            <a:avLst/>
          </a:prstGeom>
          <a:solidFill>
            <a:srgbClr val="141F3D"/>
          </a:solidFill>
          <a:ln w="9525">
            <a:solidFill>
              <a:srgbClr val="2A3660"/>
            </a:solidFill>
            <a:prstDash val="solid"/>
          </a:ln>
        </p:spPr>
      </p:sp>
      <p:sp>
        <p:nvSpPr>
          <p:cNvPr id="6" name="Text 4"/>
          <p:cNvSpPr/>
          <p:nvPr/>
        </p:nvSpPr>
        <p:spPr>
          <a:xfrm>
            <a:off x="457200" y="2697480"/>
            <a:ext cx="4114800" cy="347472"/>
          </a:xfrm>
          <a:prstGeom prst="rect">
            <a:avLst/>
          </a:prstGeom>
          <a:noFill/>
          <a:ln/>
        </p:spPr>
        <p:txBody>
          <a:bodyPr wrap="square" lIns="0" tIns="0" rIns="0" bIns="0" rtlCol="0" anchor="ctr"/>
          <a:lstStyle/>
          <a:p>
            <a:pPr algn="ctr" indent="0" marL="0">
              <a:buNone/>
            </a:pPr>
            <a:r>
              <a:rPr lang="en-US" sz="1050" dirty="0">
                <a:solidFill>
                  <a:srgbClr val="FFFFFF"/>
                </a:solidFill>
                <a:latin typeface="Courier New" pitchFamily="34" charset="0"/>
                <a:ea typeface="Courier New" pitchFamily="34" charset="-122"/>
                <a:cs typeface="Courier New" pitchFamily="34" charset="-120"/>
              </a:rPr>
              <a:t>/users/{name}</a:t>
            </a:r>
            <a:endParaRPr lang="en-US" sz="1050" dirty="0"/>
          </a:p>
        </p:txBody>
      </p:sp>
      <p:sp>
        <p:nvSpPr>
          <p:cNvPr id="7" name="Shape 5"/>
          <p:cNvSpPr/>
          <p:nvPr/>
        </p:nvSpPr>
        <p:spPr>
          <a:xfrm>
            <a:off x="457200" y="3154680"/>
            <a:ext cx="4114800" cy="347472"/>
          </a:xfrm>
          <a:prstGeom prst="rect">
            <a:avLst/>
          </a:prstGeom>
          <a:solidFill>
            <a:srgbClr val="141F3D"/>
          </a:solidFill>
          <a:ln w="9525">
            <a:solidFill>
              <a:srgbClr val="2A3660"/>
            </a:solidFill>
            <a:prstDash val="solid"/>
          </a:ln>
        </p:spPr>
      </p:sp>
      <p:sp>
        <p:nvSpPr>
          <p:cNvPr id="8" name="Text 6"/>
          <p:cNvSpPr/>
          <p:nvPr/>
        </p:nvSpPr>
        <p:spPr>
          <a:xfrm>
            <a:off x="457200" y="3154680"/>
            <a:ext cx="4114800" cy="347472"/>
          </a:xfrm>
          <a:prstGeom prst="rect">
            <a:avLst/>
          </a:prstGeom>
          <a:noFill/>
          <a:ln/>
        </p:spPr>
        <p:txBody>
          <a:bodyPr wrap="square" lIns="0" tIns="0" rIns="0" bIns="0" rtlCol="0" anchor="ctr"/>
          <a:lstStyle/>
          <a:p>
            <a:pPr algn="ctr" indent="0" marL="0">
              <a:buNone/>
            </a:pPr>
            <a:r>
              <a:rPr lang="en-US" sz="1050" dirty="0">
                <a:solidFill>
                  <a:srgbClr val="FFFFFF"/>
                </a:solidFill>
                <a:latin typeface="Courier New" pitchFamily="34" charset="0"/>
                <a:ea typeface="Courier New" pitchFamily="34" charset="-122"/>
                <a:cs typeface="Courier New" pitchFamily="34" charset="-120"/>
              </a:rPr>
              <a:t>/users/{name}/repos</a:t>
            </a:r>
            <a:endParaRPr lang="en-US" sz="1050" dirty="0"/>
          </a:p>
        </p:txBody>
      </p:sp>
      <p:sp>
        <p:nvSpPr>
          <p:cNvPr id="9" name="Shape 7"/>
          <p:cNvSpPr/>
          <p:nvPr/>
        </p:nvSpPr>
        <p:spPr>
          <a:xfrm>
            <a:off x="457200" y="3611880"/>
            <a:ext cx="4114800" cy="347472"/>
          </a:xfrm>
          <a:prstGeom prst="rect">
            <a:avLst/>
          </a:prstGeom>
          <a:solidFill>
            <a:srgbClr val="141F3D"/>
          </a:solidFill>
          <a:ln w="9525">
            <a:solidFill>
              <a:srgbClr val="2A3660"/>
            </a:solidFill>
            <a:prstDash val="solid"/>
          </a:ln>
        </p:spPr>
      </p:sp>
      <p:sp>
        <p:nvSpPr>
          <p:cNvPr id="10" name="Text 8"/>
          <p:cNvSpPr/>
          <p:nvPr/>
        </p:nvSpPr>
        <p:spPr>
          <a:xfrm>
            <a:off x="457200" y="3611880"/>
            <a:ext cx="4114800" cy="347472"/>
          </a:xfrm>
          <a:prstGeom prst="rect">
            <a:avLst/>
          </a:prstGeom>
          <a:noFill/>
          <a:ln/>
        </p:spPr>
        <p:txBody>
          <a:bodyPr wrap="square" lIns="0" tIns="0" rIns="0" bIns="0" rtlCol="0" anchor="ctr"/>
          <a:lstStyle/>
          <a:p>
            <a:pPr algn="ctr" indent="0" marL="0">
              <a:buNone/>
            </a:pPr>
            <a:r>
              <a:rPr lang="en-US" sz="1050" dirty="0">
                <a:solidFill>
                  <a:srgbClr val="FFFFFF"/>
                </a:solidFill>
                <a:latin typeface="Courier New" pitchFamily="34" charset="0"/>
                <a:ea typeface="Courier New" pitchFamily="34" charset="-122"/>
                <a:cs typeface="Courier New" pitchFamily="34" charset="-120"/>
              </a:rPr>
              <a:t>raw.githubusercontent.com/.../portfolio.yaml</a:t>
            </a:r>
            <a:endParaRPr lang="en-US" sz="1050" dirty="0"/>
          </a:p>
        </p:txBody>
      </p:sp>
      <p:sp>
        <p:nvSpPr>
          <p:cNvPr id="11" name="Text 9"/>
          <p:cNvSpPr/>
          <p:nvPr/>
        </p:nvSpPr>
        <p:spPr>
          <a:xfrm>
            <a:off x="457200" y="4114800"/>
            <a:ext cx="4114800" cy="548640"/>
          </a:xfrm>
          <a:prstGeom prst="rect">
            <a:avLst/>
          </a:prstGeom>
          <a:noFill/>
          <a:ln/>
        </p:spPr>
        <p:txBody>
          <a:bodyPr wrap="square" lIns="0" tIns="0" rIns="0" bIns="0" rtlCol="0" anchor="ctr"/>
          <a:lstStyle/>
          <a:p>
            <a:pPr indent="0" marL="0">
              <a:buNone/>
            </a:pPr>
            <a:r>
              <a:rPr lang="en-US" sz="1100" i="1" dirty="0">
                <a:solidFill>
                  <a:srgbClr val="A7ADC6"/>
                </a:solidFill>
                <a:latin typeface="Inter" pitchFamily="34" charset="0"/>
                <a:ea typeface="Inter" pitchFamily="34" charset="-122"/>
                <a:cs typeface="Inter" pitchFamily="34" charset="-120"/>
              </a:rPr>
              <a:t>Parsed with the yaml npm package. Forks are filtered; repos are sorted by stars then recency.</a:t>
            </a:r>
            <a:endParaRPr lang="en-US" sz="1100" dirty="0"/>
          </a:p>
        </p:txBody>
      </p:sp>
      <p:sp>
        <p:nvSpPr>
          <p:cNvPr id="12" name="Text 10"/>
          <p:cNvSpPr/>
          <p:nvPr/>
        </p:nvSpPr>
        <p:spPr>
          <a:xfrm>
            <a:off x="4754880" y="2286000"/>
            <a:ext cx="3931920" cy="320040"/>
          </a:xfrm>
          <a:prstGeom prst="rect">
            <a:avLst/>
          </a:prstGeom>
          <a:noFill/>
          <a:ln/>
        </p:spPr>
        <p:txBody>
          <a:bodyPr wrap="square" lIns="0" tIns="0" rIns="0" bIns="0" rtlCol="0" anchor="ctr"/>
          <a:lstStyle/>
          <a:p>
            <a:pPr indent="0" marL="0">
              <a:buNone/>
            </a:pPr>
            <a:r>
              <a:rPr lang="en-US" sz="1300" b="1" spc="400" kern="0" dirty="0">
                <a:solidFill>
                  <a:srgbClr val="C0C1FF"/>
                </a:solidFill>
                <a:latin typeface="Space Grotesk" pitchFamily="34" charset="0"/>
                <a:ea typeface="Space Grotesk" pitchFamily="34" charset="-122"/>
                <a:cs typeface="Space Grotesk" pitchFamily="34" charset="-120"/>
              </a:rPr>
              <a:t>How they merge</a:t>
            </a:r>
            <a:endParaRPr lang="en-US" sz="1300" dirty="0"/>
          </a:p>
        </p:txBody>
      </p:sp>
      <p:sp>
        <p:nvSpPr>
          <p:cNvPr id="13" name="Shape 11"/>
          <p:cNvSpPr/>
          <p:nvPr/>
        </p:nvSpPr>
        <p:spPr>
          <a:xfrm>
            <a:off x="4754880" y="2697480"/>
            <a:ext cx="1737360" cy="685800"/>
          </a:xfrm>
          <a:prstGeom prst="rect">
            <a:avLst/>
          </a:prstGeom>
          <a:solidFill>
            <a:srgbClr val="141F3D"/>
          </a:solidFill>
          <a:ln w="9525">
            <a:solidFill>
              <a:srgbClr val="2A3660"/>
            </a:solidFill>
            <a:prstDash val="solid"/>
          </a:ln>
        </p:spPr>
      </p:sp>
      <p:sp>
        <p:nvSpPr>
          <p:cNvPr id="14" name="Text 12"/>
          <p:cNvSpPr/>
          <p:nvPr/>
        </p:nvSpPr>
        <p:spPr>
          <a:xfrm>
            <a:off x="4754880" y="2743200"/>
            <a:ext cx="1737360" cy="274320"/>
          </a:xfrm>
          <a:prstGeom prst="rect">
            <a:avLst/>
          </a:prstGeom>
          <a:noFill/>
          <a:ln/>
        </p:spPr>
        <p:txBody>
          <a:bodyPr wrap="square" lIns="0" tIns="0" rIns="0" bIns="0" rtlCol="0" anchor="ctr"/>
          <a:lstStyle/>
          <a:p>
            <a:pPr algn="ctr" indent="0" marL="0">
              <a:buNone/>
            </a:pPr>
            <a:r>
              <a:rPr lang="en-US" sz="1000" b="1" dirty="0">
                <a:solidFill>
                  <a:srgbClr val="C0C1FF"/>
                </a:solidFill>
                <a:latin typeface="Space Grotesk" pitchFamily="34" charset="0"/>
                <a:ea typeface="Space Grotesk" pitchFamily="34" charset="-122"/>
                <a:cs typeface="Space Grotesk" pitchFamily="34" charset="-120"/>
              </a:rPr>
              <a:t>GitHub repo</a:t>
            </a:r>
            <a:endParaRPr lang="en-US" sz="1000" dirty="0"/>
          </a:p>
        </p:txBody>
      </p:sp>
      <p:sp>
        <p:nvSpPr>
          <p:cNvPr id="15" name="Text 13"/>
          <p:cNvSpPr/>
          <p:nvPr/>
        </p:nvSpPr>
        <p:spPr>
          <a:xfrm>
            <a:off x="4754880" y="2971800"/>
            <a:ext cx="1737360" cy="411480"/>
          </a:xfrm>
          <a:prstGeom prst="rect">
            <a:avLst/>
          </a:prstGeom>
          <a:noFill/>
          <a:ln/>
        </p:spPr>
        <p:txBody>
          <a:bodyPr wrap="square" lIns="0" tIns="0" rIns="0" bIns="0" rtlCol="0" anchor="ctr"/>
          <a:lstStyle/>
          <a:p>
            <a:pPr algn="ctr" indent="0" marL="0">
              <a:buNone/>
            </a:pPr>
            <a:r>
              <a:rPr lang="en-US" sz="900" dirty="0">
                <a:solidFill>
                  <a:srgbClr val="FFFFFF"/>
                </a:solidFill>
                <a:latin typeface="Courier New" pitchFamily="34" charset="0"/>
                <a:ea typeface="Courier New" pitchFamily="34" charset="-122"/>
                <a:cs typeface="Courier New" pitchFamily="34" charset="-120"/>
              </a:rPr>
              <a:t>name · desc · lang</a:t>
            </a:r>
            <a:endParaRPr lang="en-US" sz="900" dirty="0"/>
          </a:p>
          <a:p>
            <a:pPr algn="ctr" indent="0" marL="0">
              <a:buNone/>
            </a:pPr>
            <a:r>
              <a:rPr lang="en-US" sz="900" dirty="0">
                <a:solidFill>
                  <a:srgbClr val="FFFFFF"/>
                </a:solidFill>
                <a:latin typeface="Courier New" pitchFamily="34" charset="0"/>
                <a:ea typeface="Courier New" pitchFamily="34" charset="-122"/>
                <a:cs typeface="Courier New" pitchFamily="34" charset="-120"/>
              </a:rPr>
              <a:t>stars · updated_at</a:t>
            </a:r>
            <a:endParaRPr lang="en-US" sz="900" dirty="0"/>
          </a:p>
        </p:txBody>
      </p:sp>
      <p:sp>
        <p:nvSpPr>
          <p:cNvPr id="16" name="Shape 14"/>
          <p:cNvSpPr/>
          <p:nvPr/>
        </p:nvSpPr>
        <p:spPr>
          <a:xfrm>
            <a:off x="6675120" y="2697480"/>
            <a:ext cx="1737360" cy="685800"/>
          </a:xfrm>
          <a:prstGeom prst="rect">
            <a:avLst/>
          </a:prstGeom>
          <a:solidFill>
            <a:srgbClr val="141F3D"/>
          </a:solidFill>
          <a:ln w="9525">
            <a:solidFill>
              <a:srgbClr val="2A3660"/>
            </a:solidFill>
            <a:prstDash val="solid"/>
          </a:ln>
        </p:spPr>
      </p:sp>
      <p:sp>
        <p:nvSpPr>
          <p:cNvPr id="17" name="Text 15"/>
          <p:cNvSpPr/>
          <p:nvPr/>
        </p:nvSpPr>
        <p:spPr>
          <a:xfrm>
            <a:off x="6675120" y="2743200"/>
            <a:ext cx="1737360" cy="274320"/>
          </a:xfrm>
          <a:prstGeom prst="rect">
            <a:avLst/>
          </a:prstGeom>
          <a:noFill/>
          <a:ln/>
        </p:spPr>
        <p:txBody>
          <a:bodyPr wrap="square" lIns="0" tIns="0" rIns="0" bIns="0" rtlCol="0" anchor="ctr"/>
          <a:lstStyle/>
          <a:p>
            <a:pPr algn="ctr" indent="0" marL="0">
              <a:buNone/>
            </a:pPr>
            <a:r>
              <a:rPr lang="en-US" sz="1000" b="1" dirty="0">
                <a:solidFill>
                  <a:srgbClr val="C0C1FF"/>
                </a:solidFill>
                <a:latin typeface="Space Grotesk" pitchFamily="34" charset="0"/>
                <a:ea typeface="Space Grotesk" pitchFamily="34" charset="-122"/>
                <a:cs typeface="Space Grotesk" pitchFamily="34" charset="-120"/>
              </a:rPr>
              <a:t>portfolio.yaml</a:t>
            </a:r>
            <a:endParaRPr lang="en-US" sz="1000" dirty="0"/>
          </a:p>
        </p:txBody>
      </p:sp>
      <p:sp>
        <p:nvSpPr>
          <p:cNvPr id="18" name="Text 16"/>
          <p:cNvSpPr/>
          <p:nvPr/>
        </p:nvSpPr>
        <p:spPr>
          <a:xfrm>
            <a:off x="6675120" y="2971800"/>
            <a:ext cx="1737360" cy="411480"/>
          </a:xfrm>
          <a:prstGeom prst="rect">
            <a:avLst/>
          </a:prstGeom>
          <a:noFill/>
          <a:ln/>
        </p:spPr>
        <p:txBody>
          <a:bodyPr wrap="square" lIns="0" tIns="0" rIns="0" bIns="0" rtlCol="0" anchor="ctr"/>
          <a:lstStyle/>
          <a:p>
            <a:pPr algn="ctr" indent="0" marL="0">
              <a:buNone/>
            </a:pPr>
            <a:r>
              <a:rPr lang="en-US" sz="900" dirty="0">
                <a:solidFill>
                  <a:srgbClr val="FFFFFF"/>
                </a:solidFill>
                <a:latin typeface="Courier New" pitchFamily="34" charset="0"/>
                <a:ea typeface="Courier New" pitchFamily="34" charset="-122"/>
                <a:cs typeface="Courier New" pitchFamily="34" charset="-120"/>
              </a:rPr>
              <a:t>title · description</a:t>
            </a:r>
            <a:endParaRPr lang="en-US" sz="900" dirty="0"/>
          </a:p>
          <a:p>
            <a:pPr algn="ctr" indent="0" marL="0">
              <a:buNone/>
            </a:pPr>
            <a:r>
              <a:rPr lang="en-US" sz="900" dirty="0">
                <a:solidFill>
                  <a:srgbClr val="FFFFFF"/>
                </a:solidFill>
                <a:latin typeface="Courier New" pitchFamily="34" charset="0"/>
                <a:ea typeface="Courier New" pitchFamily="34" charset="-122"/>
                <a:cs typeface="Courier New" pitchFamily="34" charset="-120"/>
              </a:rPr>
              <a:t>tags[]</a:t>
            </a:r>
            <a:endParaRPr lang="en-US" sz="900" dirty="0"/>
          </a:p>
        </p:txBody>
      </p:sp>
      <p:sp>
        <p:nvSpPr>
          <p:cNvPr id="19" name="Text 17"/>
          <p:cNvSpPr/>
          <p:nvPr/>
        </p:nvSpPr>
        <p:spPr>
          <a:xfrm>
            <a:off x="6492240" y="3429000"/>
            <a:ext cx="182880" cy="274320"/>
          </a:xfrm>
          <a:prstGeom prst="rect">
            <a:avLst/>
          </a:prstGeom>
          <a:noFill/>
          <a:ln/>
        </p:spPr>
        <p:txBody>
          <a:bodyPr wrap="square" lIns="0" tIns="0" rIns="0" bIns="0" rtlCol="0" anchor="ctr"/>
          <a:lstStyle/>
          <a:p>
            <a:pPr algn="ctr" indent="0" marL="0">
              <a:buNone/>
            </a:pPr>
            <a:r>
              <a:rPr lang="en-US" sz="1400" dirty="0">
                <a:solidFill>
                  <a:srgbClr val="C0C1FF"/>
                </a:solidFill>
                <a:latin typeface="Space Grotesk" pitchFamily="34" charset="0"/>
                <a:ea typeface="Space Grotesk" pitchFamily="34" charset="-122"/>
                <a:cs typeface="Space Grotesk" pitchFamily="34" charset="-120"/>
              </a:rPr>
              <a:t>v</a:t>
            </a:r>
            <a:endParaRPr lang="en-US" sz="1400" dirty="0"/>
          </a:p>
        </p:txBody>
      </p:sp>
      <p:sp>
        <p:nvSpPr>
          <p:cNvPr id="20" name="Shape 18"/>
          <p:cNvSpPr/>
          <p:nvPr/>
        </p:nvSpPr>
        <p:spPr>
          <a:xfrm>
            <a:off x="4754880" y="3749040"/>
            <a:ext cx="3657600" cy="777240"/>
          </a:xfrm>
          <a:prstGeom prst="rect">
            <a:avLst/>
          </a:prstGeom>
          <a:solidFill>
            <a:srgbClr val="1B2749"/>
          </a:solidFill>
          <a:ln w="12700">
            <a:solidFill>
              <a:srgbClr val="C0C1FF"/>
            </a:solidFill>
            <a:prstDash val="solid"/>
          </a:ln>
        </p:spPr>
      </p:sp>
      <p:sp>
        <p:nvSpPr>
          <p:cNvPr id="21" name="Text 19"/>
          <p:cNvSpPr/>
          <p:nvPr/>
        </p:nvSpPr>
        <p:spPr>
          <a:xfrm>
            <a:off x="4754880" y="3822192"/>
            <a:ext cx="3657600" cy="274320"/>
          </a:xfrm>
          <a:prstGeom prst="rect">
            <a:avLst/>
          </a:prstGeom>
          <a:noFill/>
          <a:ln/>
        </p:spPr>
        <p:txBody>
          <a:bodyPr wrap="square" lIns="0" tIns="0" rIns="0" bIns="0" rtlCol="0" anchor="ctr"/>
          <a:lstStyle/>
          <a:p>
            <a:pPr algn="ctr" indent="0" marL="0">
              <a:buNone/>
            </a:pPr>
            <a:r>
              <a:rPr lang="en-US" sz="1100" b="1" dirty="0">
                <a:solidFill>
                  <a:srgbClr val="C0C1FF"/>
                </a:solidFill>
                <a:latin typeface="Space Grotesk" pitchFamily="34" charset="0"/>
                <a:ea typeface="Space Grotesk" pitchFamily="34" charset="-122"/>
                <a:cs typeface="Space Grotesk" pitchFamily="34" charset="-120"/>
              </a:rPr>
              <a:t>Project object</a:t>
            </a:r>
            <a:endParaRPr lang="en-US" sz="1100" dirty="0"/>
          </a:p>
        </p:txBody>
      </p:sp>
      <p:sp>
        <p:nvSpPr>
          <p:cNvPr id="22" name="Text 20"/>
          <p:cNvSpPr/>
          <p:nvPr/>
        </p:nvSpPr>
        <p:spPr>
          <a:xfrm>
            <a:off x="4754880" y="4114800"/>
            <a:ext cx="3657600" cy="320040"/>
          </a:xfrm>
          <a:prstGeom prst="rect">
            <a:avLst/>
          </a:prstGeom>
          <a:noFill/>
          <a:ln/>
        </p:spPr>
        <p:txBody>
          <a:bodyPr wrap="square" lIns="0" tIns="0" rIns="0" bIns="0" rtlCol="0" anchor="ctr"/>
          <a:lstStyle/>
          <a:p>
            <a:pPr algn="ctr" indent="0" marL="0">
              <a:buNone/>
            </a:pPr>
            <a:r>
              <a:rPr lang="en-US" sz="1050" i="1" dirty="0">
                <a:solidFill>
                  <a:srgbClr val="FFFFFF"/>
                </a:solidFill>
                <a:latin typeface="Inter" pitchFamily="34" charset="0"/>
                <a:ea typeface="Inter" pitchFamily="34" charset="-122"/>
                <a:cs typeface="Inter" pitchFamily="34" charset="-120"/>
              </a:rPr>
              <a:t>YAML fields win · GitHub fills the gaps</a:t>
            </a:r>
            <a:endParaRPr lang="en-US" sz="1050" dirty="0"/>
          </a:p>
        </p:txBody>
      </p:sp>
      <p:sp>
        <p:nvSpPr>
          <p:cNvPr id="23" name="Shape 21"/>
          <p:cNvSpPr/>
          <p:nvPr/>
        </p:nvSpPr>
        <p:spPr>
          <a:xfrm>
            <a:off x="457200" y="4828032"/>
            <a:ext cx="8229600" cy="0"/>
          </a:xfrm>
          <a:prstGeom prst="line">
            <a:avLst/>
          </a:prstGeom>
          <a:noFill/>
          <a:ln w="9525">
            <a:solidFill>
              <a:srgbClr val="2A3660"/>
            </a:solidFill>
            <a:prstDash val="solid"/>
          </a:ln>
        </p:spPr>
      </p:sp>
      <p:sp>
        <p:nvSpPr>
          <p:cNvPr id="24" name="Text 22"/>
          <p:cNvSpPr/>
          <p:nvPr/>
        </p:nvSpPr>
        <p:spPr>
          <a:xfrm>
            <a:off x="457200" y="4864608"/>
            <a:ext cx="2743200" cy="228600"/>
          </a:xfrm>
          <a:prstGeom prst="rect">
            <a:avLst/>
          </a:prstGeom>
          <a:noFill/>
          <a:ln/>
        </p:spPr>
        <p:txBody>
          <a:bodyPr wrap="square" lIns="0" tIns="0" rIns="0" bIns="0" rtlCol="0" anchor="ctr"/>
          <a:lstStyle/>
          <a:p>
            <a:pPr indent="0" marL="0">
              <a:buNone/>
            </a:pPr>
            <a:r>
              <a:rPr lang="en-US" sz="800" b="1" spc="400" kern="0" dirty="0">
                <a:solidFill>
                  <a:srgbClr val="6E7699"/>
                </a:solidFill>
                <a:latin typeface="Space Grotesk" pitchFamily="34" charset="0"/>
                <a:ea typeface="Space Grotesk" pitchFamily="34" charset="-122"/>
                <a:cs typeface="Space Grotesk" pitchFamily="34" charset="-120"/>
              </a:rPr>
              <a:t>ARCHITECT.DEV</a:t>
            </a:r>
            <a:endParaRPr lang="en-US" sz="800" dirty="0"/>
          </a:p>
        </p:txBody>
      </p:sp>
      <p:sp>
        <p:nvSpPr>
          <p:cNvPr id="25" name="Text 23"/>
          <p:cNvSpPr/>
          <p:nvPr/>
        </p:nvSpPr>
        <p:spPr>
          <a:xfrm>
            <a:off x="6400800" y="4864608"/>
            <a:ext cx="2286000" cy="228600"/>
          </a:xfrm>
          <a:prstGeom prst="rect">
            <a:avLst/>
          </a:prstGeom>
          <a:noFill/>
          <a:ln/>
        </p:spPr>
        <p:txBody>
          <a:bodyPr wrap="square" lIns="0" tIns="0" rIns="0" bIns="0" rtlCol="0" anchor="ctr"/>
          <a:lstStyle/>
          <a:p>
            <a:pPr algn="r" indent="0" marL="0">
              <a:buNone/>
            </a:pPr>
            <a:r>
              <a:rPr lang="en-US" sz="800" dirty="0">
                <a:solidFill>
                  <a:srgbClr val="6E7699"/>
                </a:solidFill>
                <a:latin typeface="Space Grotesk" pitchFamily="34" charset="0"/>
                <a:ea typeface="Space Grotesk" pitchFamily="34" charset="-122"/>
                <a:cs typeface="Space Grotesk" pitchFamily="34" charset="-120"/>
              </a:rPr>
              <a:t>8 / 12</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1326"/>
        </a:solidFill>
      </p:bgPr>
    </p:bg>
    <p:spTree>
      <p:nvGrpSpPr>
        <p:cNvPr id="1" name=""/>
        <p:cNvGrpSpPr/>
        <p:nvPr/>
      </p:nvGrpSpPr>
      <p:grpSpPr>
        <a:xfrm>
          <a:off x="0" y="0"/>
          <a:ext cx="0" cy="0"/>
          <a:chOff x="0" y="0"/>
          <a:chExt cx="0" cy="0"/>
        </a:xfrm>
      </p:grpSpPr>
      <p:sp>
        <p:nvSpPr>
          <p:cNvPr id="2" name="Text 0"/>
          <p:cNvSpPr/>
          <p:nvPr/>
        </p:nvSpPr>
        <p:spPr>
          <a:xfrm>
            <a:off x="457200" y="365760"/>
            <a:ext cx="8229600" cy="228600"/>
          </a:xfrm>
          <a:prstGeom prst="rect">
            <a:avLst/>
          </a:prstGeom>
          <a:noFill/>
          <a:ln/>
        </p:spPr>
        <p:txBody>
          <a:bodyPr wrap="square" lIns="0" tIns="0" rIns="0" bIns="0" rtlCol="0" anchor="ctr"/>
          <a:lstStyle/>
          <a:p>
            <a:pPr indent="0" marL="0">
              <a:buNone/>
            </a:pPr>
            <a:r>
              <a:rPr lang="en-US" sz="1000" b="1" spc="600" kern="0" dirty="0">
                <a:solidFill>
                  <a:srgbClr val="C0C1FF"/>
                </a:solidFill>
                <a:latin typeface="Space Grotesk" pitchFamily="34" charset="0"/>
                <a:ea typeface="Space Grotesk" pitchFamily="34" charset="-122"/>
                <a:cs typeface="Space Grotesk" pitchFamily="34" charset="-120"/>
              </a:rPr>
              <a:t>08 · CODE ORGANISATION</a:t>
            </a:r>
            <a:endParaRPr lang="en-US" sz="1000" dirty="0"/>
          </a:p>
        </p:txBody>
      </p:sp>
      <p:sp>
        <p:nvSpPr>
          <p:cNvPr id="3" name="Text 1"/>
          <p:cNvSpPr/>
          <p:nvPr/>
        </p:nvSpPr>
        <p:spPr>
          <a:xfrm>
            <a:off x="457200" y="685800"/>
            <a:ext cx="8229600" cy="1188720"/>
          </a:xfrm>
          <a:prstGeom prst="rect">
            <a:avLst/>
          </a:prstGeom>
          <a:noFill/>
          <a:ln/>
        </p:spPr>
        <p:txBody>
          <a:bodyPr wrap="square" lIns="0" tIns="0" rIns="0" bIns="0" rtlCol="0" anchor="ctr"/>
          <a:lstStyle/>
          <a:p>
            <a:pPr indent="0" marL="0">
              <a:buNone/>
            </a:pPr>
            <a:r>
              <a:rPr lang="en-US" sz="3000" b="1" dirty="0">
                <a:solidFill>
                  <a:srgbClr val="FFFFFF"/>
                </a:solidFill>
                <a:latin typeface="Space Grotesk" pitchFamily="34" charset="0"/>
                <a:ea typeface="Space Grotesk" pitchFamily="34" charset="-122"/>
                <a:cs typeface="Space Grotesk" pitchFamily="34" charset="-120"/>
              </a:rPr>
              <a:t>UI up top, data</a:t>
            </a:r>
            <a:endParaRPr lang="en-US" sz="3000" dirty="0"/>
          </a:p>
          <a:p>
            <a:pPr indent="0" marL="0">
              <a:buNone/>
            </a:pPr>
            <a:r>
              <a:rPr lang="en-US" sz="3000" b="1" dirty="0">
                <a:solidFill>
                  <a:srgbClr val="FFFFFF"/>
                </a:solidFill>
                <a:latin typeface="Space Grotesk" pitchFamily="34" charset="0"/>
                <a:ea typeface="Space Grotesk" pitchFamily="34" charset="-122"/>
                <a:cs typeface="Space Grotesk" pitchFamily="34" charset="-120"/>
              </a:rPr>
              <a:t>layer underneath.</a:t>
            </a:r>
            <a:endParaRPr lang="en-US" sz="3000" dirty="0"/>
          </a:p>
        </p:txBody>
      </p:sp>
      <p:sp>
        <p:nvSpPr>
          <p:cNvPr id="4" name="Shape 2"/>
          <p:cNvSpPr/>
          <p:nvPr/>
        </p:nvSpPr>
        <p:spPr>
          <a:xfrm>
            <a:off x="457200" y="2194560"/>
            <a:ext cx="4663440" cy="2423160"/>
          </a:xfrm>
          <a:prstGeom prst="rect">
            <a:avLst/>
          </a:prstGeom>
          <a:solidFill>
            <a:srgbClr val="111B36"/>
          </a:solidFill>
          <a:ln w="9525">
            <a:solidFill>
              <a:srgbClr val="2A3660"/>
            </a:solidFill>
            <a:prstDash val="solid"/>
          </a:ln>
        </p:spPr>
      </p:sp>
      <p:sp>
        <p:nvSpPr>
          <p:cNvPr id="5" name="Shape 3"/>
          <p:cNvSpPr/>
          <p:nvPr/>
        </p:nvSpPr>
        <p:spPr>
          <a:xfrm>
            <a:off x="457200" y="2194560"/>
            <a:ext cx="4663440" cy="36576"/>
          </a:xfrm>
          <a:prstGeom prst="rect">
            <a:avLst/>
          </a:prstGeom>
          <a:solidFill>
            <a:srgbClr val="C0C1FF"/>
          </a:solidFill>
          <a:ln w="12700">
            <a:solidFill>
              <a:srgbClr val="C0C1FF"/>
            </a:solidFill>
            <a:prstDash val="solid"/>
          </a:ln>
        </p:spPr>
      </p:sp>
      <p:sp>
        <p:nvSpPr>
          <p:cNvPr id="6" name="Text 4"/>
          <p:cNvSpPr/>
          <p:nvPr/>
        </p:nvSpPr>
        <p:spPr>
          <a:xfrm>
            <a:off x="640080" y="2286000"/>
            <a:ext cx="4114800" cy="274320"/>
          </a:xfrm>
          <a:prstGeom prst="rect">
            <a:avLst/>
          </a:prstGeom>
          <a:noFill/>
          <a:ln/>
        </p:spPr>
        <p:txBody>
          <a:bodyPr wrap="square" lIns="0" tIns="0" rIns="0" bIns="0" rtlCol="0" anchor="ctr"/>
          <a:lstStyle/>
          <a:p>
            <a:pPr indent="0" marL="0">
              <a:buNone/>
            </a:pPr>
            <a:r>
              <a:rPr lang="en-US" sz="1100" b="1" dirty="0">
                <a:solidFill>
                  <a:srgbClr val="6E7699"/>
                </a:solidFill>
                <a:latin typeface="Courier New" pitchFamily="34" charset="0"/>
                <a:ea typeface="Courier New" pitchFamily="34" charset="-122"/>
                <a:cs typeface="Courier New" pitchFamily="34" charset="-120"/>
              </a:rPr>
              <a:t>src/</a:t>
            </a:r>
            <a:endParaRPr lang="en-US" sz="1100" dirty="0"/>
          </a:p>
        </p:txBody>
      </p:sp>
      <p:sp>
        <p:nvSpPr>
          <p:cNvPr id="7" name="Text 5"/>
          <p:cNvSpPr/>
          <p:nvPr/>
        </p:nvSpPr>
        <p:spPr>
          <a:xfrm>
            <a:off x="777240" y="2606040"/>
            <a:ext cx="2103120" cy="201168"/>
          </a:xfrm>
          <a:prstGeom prst="rect">
            <a:avLst/>
          </a:prstGeom>
          <a:noFill/>
          <a:ln/>
        </p:spPr>
        <p:txBody>
          <a:bodyPr wrap="square" lIns="0" tIns="0" rIns="0" bIns="0" rtlCol="0" anchor="ctr"/>
          <a:lstStyle/>
          <a:p>
            <a:pPr indent="0" marL="0">
              <a:buNone/>
            </a:pPr>
            <a:r>
              <a:rPr lang="en-US" sz="1050" b="1" dirty="0">
                <a:solidFill>
                  <a:srgbClr val="C0C1FF"/>
                </a:solidFill>
                <a:latin typeface="Courier New" pitchFamily="34" charset="0"/>
                <a:ea typeface="Courier New" pitchFamily="34" charset="-122"/>
                <a:cs typeface="Courier New" pitchFamily="34" charset="-120"/>
              </a:rPr>
              <a:t>App.tsx</a:t>
            </a:r>
            <a:endParaRPr lang="en-US" sz="1050" dirty="0"/>
          </a:p>
        </p:txBody>
      </p:sp>
      <p:sp>
        <p:nvSpPr>
          <p:cNvPr id="8" name="Text 6"/>
          <p:cNvSpPr/>
          <p:nvPr/>
        </p:nvSpPr>
        <p:spPr>
          <a:xfrm>
            <a:off x="2880360" y="2606040"/>
            <a:ext cx="2194560" cy="201168"/>
          </a:xfrm>
          <a:prstGeom prst="rect">
            <a:avLst/>
          </a:prstGeom>
          <a:noFill/>
          <a:ln/>
        </p:spPr>
        <p:txBody>
          <a:bodyPr wrap="square" lIns="0" tIns="0" rIns="0" bIns="0" rtlCol="0" anchor="ctr"/>
          <a:lstStyle/>
          <a:p>
            <a:pPr indent="0" marL="0">
              <a:buNone/>
            </a:pPr>
            <a:r>
              <a:rPr lang="en-US" sz="1000" dirty="0">
                <a:solidFill>
                  <a:srgbClr val="A7ADC6"/>
                </a:solidFill>
                <a:latin typeface="Inter" pitchFamily="34" charset="0"/>
                <a:ea typeface="Inter" pitchFamily="34" charset="-122"/>
                <a:cs typeface="Inter" pitchFamily="34" charset="-120"/>
              </a:rPr>
              <a:t>routing shell</a:t>
            </a:r>
            <a:endParaRPr lang="en-US" sz="1000" dirty="0"/>
          </a:p>
        </p:txBody>
      </p:sp>
      <p:sp>
        <p:nvSpPr>
          <p:cNvPr id="9" name="Text 7"/>
          <p:cNvSpPr/>
          <p:nvPr/>
        </p:nvSpPr>
        <p:spPr>
          <a:xfrm>
            <a:off x="777240" y="2807208"/>
            <a:ext cx="2103120" cy="201168"/>
          </a:xfrm>
          <a:prstGeom prst="rect">
            <a:avLst/>
          </a:prstGeom>
          <a:noFill/>
          <a:ln/>
        </p:spPr>
        <p:txBody>
          <a:bodyPr wrap="square" lIns="0" tIns="0" rIns="0" bIns="0" rtlCol="0" anchor="ctr"/>
          <a:lstStyle/>
          <a:p>
            <a:pPr indent="0" marL="0">
              <a:buNone/>
            </a:pPr>
            <a:r>
              <a:rPr lang="en-US" sz="1050" b="1" dirty="0">
                <a:solidFill>
                  <a:srgbClr val="C0C1FF"/>
                </a:solidFill>
                <a:latin typeface="Courier New" pitchFamily="34" charset="0"/>
                <a:ea typeface="Courier New" pitchFamily="34" charset="-122"/>
                <a:cs typeface="Courier New" pitchFamily="34" charset="-120"/>
              </a:rPr>
              <a:t>HomePage.tsx</a:t>
            </a:r>
            <a:endParaRPr lang="en-US" sz="1050" dirty="0"/>
          </a:p>
        </p:txBody>
      </p:sp>
      <p:sp>
        <p:nvSpPr>
          <p:cNvPr id="10" name="Text 8"/>
          <p:cNvSpPr/>
          <p:nvPr/>
        </p:nvSpPr>
        <p:spPr>
          <a:xfrm>
            <a:off x="2880360" y="2807208"/>
            <a:ext cx="2194560" cy="201168"/>
          </a:xfrm>
          <a:prstGeom prst="rect">
            <a:avLst/>
          </a:prstGeom>
          <a:noFill/>
          <a:ln/>
        </p:spPr>
        <p:txBody>
          <a:bodyPr wrap="square" lIns="0" tIns="0" rIns="0" bIns="0" rtlCol="0" anchor="ctr"/>
          <a:lstStyle/>
          <a:p>
            <a:pPr indent="0" marL="0">
              <a:buNone/>
            </a:pPr>
            <a:r>
              <a:rPr lang="en-US" sz="1000" dirty="0">
                <a:solidFill>
                  <a:srgbClr val="A7ADC6"/>
                </a:solidFill>
                <a:latin typeface="Inter" pitchFamily="34" charset="0"/>
                <a:ea typeface="Inter" pitchFamily="34" charset="-122"/>
                <a:cs typeface="Inter" pitchFamily="34" charset="-120"/>
              </a:rPr>
              <a:t>discover portfolios</a:t>
            </a:r>
            <a:endParaRPr lang="en-US" sz="1000" dirty="0"/>
          </a:p>
        </p:txBody>
      </p:sp>
      <p:sp>
        <p:nvSpPr>
          <p:cNvPr id="11" name="Text 9"/>
          <p:cNvSpPr/>
          <p:nvPr/>
        </p:nvSpPr>
        <p:spPr>
          <a:xfrm>
            <a:off x="777240" y="3008376"/>
            <a:ext cx="2103120" cy="201168"/>
          </a:xfrm>
          <a:prstGeom prst="rect">
            <a:avLst/>
          </a:prstGeom>
          <a:noFill/>
          <a:ln/>
        </p:spPr>
        <p:txBody>
          <a:bodyPr wrap="square" lIns="0" tIns="0" rIns="0" bIns="0" rtlCol="0" anchor="ctr"/>
          <a:lstStyle/>
          <a:p>
            <a:pPr indent="0" marL="0">
              <a:buNone/>
            </a:pPr>
            <a:r>
              <a:rPr lang="en-US" sz="1050" b="1" dirty="0">
                <a:solidFill>
                  <a:srgbClr val="C0C1FF"/>
                </a:solidFill>
                <a:latin typeface="Courier New" pitchFamily="34" charset="0"/>
                <a:ea typeface="Courier New" pitchFamily="34" charset="-122"/>
                <a:cs typeface="Courier New" pitchFamily="34" charset="-120"/>
              </a:rPr>
              <a:t>UserPage.tsx</a:t>
            </a:r>
            <a:endParaRPr lang="en-US" sz="1050" dirty="0"/>
          </a:p>
        </p:txBody>
      </p:sp>
      <p:sp>
        <p:nvSpPr>
          <p:cNvPr id="12" name="Text 10"/>
          <p:cNvSpPr/>
          <p:nvPr/>
        </p:nvSpPr>
        <p:spPr>
          <a:xfrm>
            <a:off x="2880360" y="3008376"/>
            <a:ext cx="2194560" cy="201168"/>
          </a:xfrm>
          <a:prstGeom prst="rect">
            <a:avLst/>
          </a:prstGeom>
          <a:noFill/>
          <a:ln/>
        </p:spPr>
        <p:txBody>
          <a:bodyPr wrap="square" lIns="0" tIns="0" rIns="0" bIns="0" rtlCol="0" anchor="ctr"/>
          <a:lstStyle/>
          <a:p>
            <a:pPr indent="0" marL="0">
              <a:buNone/>
            </a:pPr>
            <a:r>
              <a:rPr lang="en-US" sz="1000" dirty="0">
                <a:solidFill>
                  <a:srgbClr val="A7ADC6"/>
                </a:solidFill>
                <a:latin typeface="Inter" pitchFamily="34" charset="0"/>
                <a:ea typeface="Inter" pitchFamily="34" charset="-122"/>
                <a:cs typeface="Inter" pitchFamily="34" charset="-120"/>
              </a:rPr>
              <a:t>portfolio (read / edit)</a:t>
            </a:r>
            <a:endParaRPr lang="en-US" sz="1000" dirty="0"/>
          </a:p>
        </p:txBody>
      </p:sp>
      <p:sp>
        <p:nvSpPr>
          <p:cNvPr id="13" name="Text 11"/>
          <p:cNvSpPr/>
          <p:nvPr/>
        </p:nvSpPr>
        <p:spPr>
          <a:xfrm>
            <a:off x="777240" y="3209544"/>
            <a:ext cx="2103120" cy="201168"/>
          </a:xfrm>
          <a:prstGeom prst="rect">
            <a:avLst/>
          </a:prstGeom>
          <a:noFill/>
          <a:ln/>
        </p:spPr>
        <p:txBody>
          <a:bodyPr wrap="square" lIns="0" tIns="0" rIns="0" bIns="0" rtlCol="0" anchor="ctr"/>
          <a:lstStyle/>
          <a:p>
            <a:pPr indent="0" marL="0">
              <a:buNone/>
            </a:pPr>
            <a:r>
              <a:rPr lang="en-US" sz="1050" b="1" dirty="0">
                <a:solidFill>
                  <a:srgbClr val="C0C1FF"/>
                </a:solidFill>
                <a:latin typeface="Courier New" pitchFamily="34" charset="0"/>
                <a:ea typeface="Courier New" pitchFamily="34" charset="-122"/>
                <a:cs typeface="Courier New" pitchFamily="34" charset="-120"/>
              </a:rPr>
              <a:t>CvPage.tsx</a:t>
            </a:r>
            <a:endParaRPr lang="en-US" sz="1050" dirty="0"/>
          </a:p>
        </p:txBody>
      </p:sp>
      <p:sp>
        <p:nvSpPr>
          <p:cNvPr id="14" name="Text 12"/>
          <p:cNvSpPr/>
          <p:nvPr/>
        </p:nvSpPr>
        <p:spPr>
          <a:xfrm>
            <a:off x="2880360" y="3209544"/>
            <a:ext cx="2194560" cy="201168"/>
          </a:xfrm>
          <a:prstGeom prst="rect">
            <a:avLst/>
          </a:prstGeom>
          <a:noFill/>
          <a:ln/>
        </p:spPr>
        <p:txBody>
          <a:bodyPr wrap="square" lIns="0" tIns="0" rIns="0" bIns="0" rtlCol="0" anchor="ctr"/>
          <a:lstStyle/>
          <a:p>
            <a:pPr indent="0" marL="0">
              <a:buNone/>
            </a:pPr>
            <a:r>
              <a:rPr lang="en-US" sz="1000" dirty="0">
                <a:solidFill>
                  <a:srgbClr val="A7ADC6"/>
                </a:solidFill>
                <a:latin typeface="Inter" pitchFamily="34" charset="0"/>
                <a:ea typeface="Inter" pitchFamily="34" charset="-122"/>
                <a:cs typeface="Inter" pitchFamily="34" charset="-120"/>
              </a:rPr>
              <a:t>CV (read / edit)</a:t>
            </a:r>
            <a:endParaRPr lang="en-US" sz="1000" dirty="0"/>
          </a:p>
        </p:txBody>
      </p:sp>
      <p:sp>
        <p:nvSpPr>
          <p:cNvPr id="15" name="Text 13"/>
          <p:cNvSpPr/>
          <p:nvPr/>
        </p:nvSpPr>
        <p:spPr>
          <a:xfrm>
            <a:off x="777240" y="3410712"/>
            <a:ext cx="2103120" cy="201168"/>
          </a:xfrm>
          <a:prstGeom prst="rect">
            <a:avLst/>
          </a:prstGeom>
          <a:noFill/>
          <a:ln/>
        </p:spPr>
        <p:txBody>
          <a:bodyPr wrap="square" lIns="0" tIns="0" rIns="0" bIns="0" rtlCol="0" anchor="ctr"/>
          <a:lstStyle/>
          <a:p>
            <a:pPr indent="0" marL="0">
              <a:buNone/>
            </a:pPr>
            <a:r>
              <a:rPr lang="en-US" sz="1050" b="1" dirty="0">
                <a:solidFill>
                  <a:srgbClr val="C0C1FF"/>
                </a:solidFill>
                <a:latin typeface="Courier New" pitchFamily="34" charset="0"/>
                <a:ea typeface="Courier New" pitchFamily="34" charset="-122"/>
                <a:cs typeface="Courier New" pitchFamily="34" charset="-120"/>
              </a:rPr>
              <a:t>ProjectCard.tsx</a:t>
            </a:r>
            <a:endParaRPr lang="en-US" sz="1050" dirty="0"/>
          </a:p>
        </p:txBody>
      </p:sp>
      <p:sp>
        <p:nvSpPr>
          <p:cNvPr id="16" name="Text 14"/>
          <p:cNvSpPr/>
          <p:nvPr/>
        </p:nvSpPr>
        <p:spPr>
          <a:xfrm>
            <a:off x="2880360" y="3410712"/>
            <a:ext cx="2194560" cy="201168"/>
          </a:xfrm>
          <a:prstGeom prst="rect">
            <a:avLst/>
          </a:prstGeom>
          <a:noFill/>
          <a:ln/>
        </p:spPr>
        <p:txBody>
          <a:bodyPr wrap="square" lIns="0" tIns="0" rIns="0" bIns="0" rtlCol="0" anchor="ctr"/>
          <a:lstStyle/>
          <a:p>
            <a:pPr indent="0" marL="0">
              <a:buNone/>
            </a:pPr>
            <a:r>
              <a:rPr lang="en-US" sz="1000" dirty="0">
                <a:solidFill>
                  <a:srgbClr val="A7ADC6"/>
                </a:solidFill>
                <a:latin typeface="Inter" pitchFamily="34" charset="0"/>
                <a:ea typeface="Inter" pitchFamily="34" charset="-122"/>
                <a:cs typeface="Inter" pitchFamily="34" charset="-120"/>
              </a:rPr>
              <a:t>single repo card</a:t>
            </a:r>
            <a:endParaRPr lang="en-US" sz="1000" dirty="0"/>
          </a:p>
        </p:txBody>
      </p:sp>
      <p:sp>
        <p:nvSpPr>
          <p:cNvPr id="17" name="Text 15"/>
          <p:cNvSpPr/>
          <p:nvPr/>
        </p:nvSpPr>
        <p:spPr>
          <a:xfrm>
            <a:off x="777240" y="3611880"/>
            <a:ext cx="2103120" cy="201168"/>
          </a:xfrm>
          <a:prstGeom prst="rect">
            <a:avLst/>
          </a:prstGeom>
          <a:noFill/>
          <a:ln/>
        </p:spPr>
        <p:txBody>
          <a:bodyPr wrap="square" lIns="0" tIns="0" rIns="0" bIns="0" rtlCol="0" anchor="ctr"/>
          <a:lstStyle/>
          <a:p>
            <a:pPr indent="0" marL="0">
              <a:buNone/>
            </a:pPr>
            <a:r>
              <a:rPr lang="en-US" sz="1050" b="1" dirty="0">
                <a:solidFill>
                  <a:srgbClr val="C0C1FF"/>
                </a:solidFill>
                <a:latin typeface="Courier New" pitchFamily="34" charset="0"/>
                <a:ea typeface="Courier New" pitchFamily="34" charset="-122"/>
                <a:cs typeface="Courier New" pitchFamily="34" charset="-120"/>
              </a:rPr>
              <a:t>lib/supabase.ts</a:t>
            </a:r>
            <a:endParaRPr lang="en-US" sz="1050" dirty="0"/>
          </a:p>
        </p:txBody>
      </p:sp>
      <p:sp>
        <p:nvSpPr>
          <p:cNvPr id="18" name="Text 16"/>
          <p:cNvSpPr/>
          <p:nvPr/>
        </p:nvSpPr>
        <p:spPr>
          <a:xfrm>
            <a:off x="2880360" y="3611880"/>
            <a:ext cx="2194560" cy="201168"/>
          </a:xfrm>
          <a:prstGeom prst="rect">
            <a:avLst/>
          </a:prstGeom>
          <a:noFill/>
          <a:ln/>
        </p:spPr>
        <p:txBody>
          <a:bodyPr wrap="square" lIns="0" tIns="0" rIns="0" bIns="0" rtlCol="0" anchor="ctr"/>
          <a:lstStyle/>
          <a:p>
            <a:pPr indent="0" marL="0">
              <a:buNone/>
            </a:pPr>
            <a:r>
              <a:rPr lang="en-US" sz="1000" dirty="0">
                <a:solidFill>
                  <a:srgbClr val="A7ADC6"/>
                </a:solidFill>
                <a:latin typeface="Inter" pitchFamily="34" charset="0"/>
                <a:ea typeface="Inter" pitchFamily="34" charset="-122"/>
                <a:cs typeface="Inter" pitchFamily="34" charset="-120"/>
              </a:rPr>
              <a:t>client + auth</a:t>
            </a:r>
            <a:endParaRPr lang="en-US" sz="1000" dirty="0"/>
          </a:p>
        </p:txBody>
      </p:sp>
      <p:sp>
        <p:nvSpPr>
          <p:cNvPr id="19" name="Text 17"/>
          <p:cNvSpPr/>
          <p:nvPr/>
        </p:nvSpPr>
        <p:spPr>
          <a:xfrm>
            <a:off x="777240" y="3813048"/>
            <a:ext cx="2103120" cy="201168"/>
          </a:xfrm>
          <a:prstGeom prst="rect">
            <a:avLst/>
          </a:prstGeom>
          <a:noFill/>
          <a:ln/>
        </p:spPr>
        <p:txBody>
          <a:bodyPr wrap="square" lIns="0" tIns="0" rIns="0" bIns="0" rtlCol="0" anchor="ctr"/>
          <a:lstStyle/>
          <a:p>
            <a:pPr indent="0" marL="0">
              <a:buNone/>
            </a:pPr>
            <a:r>
              <a:rPr lang="en-US" sz="1050" b="1" dirty="0">
                <a:solidFill>
                  <a:srgbClr val="C0C1FF"/>
                </a:solidFill>
                <a:latin typeface="Courier New" pitchFamily="34" charset="0"/>
                <a:ea typeface="Courier New" pitchFamily="34" charset="-122"/>
                <a:cs typeface="Courier New" pitchFamily="34" charset="-120"/>
              </a:rPr>
              <a:t>lib/portfolio.ts</a:t>
            </a:r>
            <a:endParaRPr lang="en-US" sz="1050" dirty="0"/>
          </a:p>
        </p:txBody>
      </p:sp>
      <p:sp>
        <p:nvSpPr>
          <p:cNvPr id="20" name="Text 18"/>
          <p:cNvSpPr/>
          <p:nvPr/>
        </p:nvSpPr>
        <p:spPr>
          <a:xfrm>
            <a:off x="2880360" y="3813048"/>
            <a:ext cx="2194560" cy="201168"/>
          </a:xfrm>
          <a:prstGeom prst="rect">
            <a:avLst/>
          </a:prstGeom>
          <a:noFill/>
          <a:ln/>
        </p:spPr>
        <p:txBody>
          <a:bodyPr wrap="square" lIns="0" tIns="0" rIns="0" bIns="0" rtlCol="0" anchor="ctr"/>
          <a:lstStyle/>
          <a:p>
            <a:pPr indent="0" marL="0">
              <a:buNone/>
            </a:pPr>
            <a:r>
              <a:rPr lang="en-US" sz="1000" dirty="0">
                <a:solidFill>
                  <a:srgbClr val="A7ADC6"/>
                </a:solidFill>
                <a:latin typeface="Inter" pitchFamily="34" charset="0"/>
                <a:ea typeface="Inter" pitchFamily="34" charset="-122"/>
                <a:cs typeface="Inter" pitchFamily="34" charset="-120"/>
              </a:rPr>
              <a:t>profiles · folders · items</a:t>
            </a:r>
            <a:endParaRPr lang="en-US" sz="1000" dirty="0"/>
          </a:p>
        </p:txBody>
      </p:sp>
      <p:sp>
        <p:nvSpPr>
          <p:cNvPr id="21" name="Text 19"/>
          <p:cNvSpPr/>
          <p:nvPr/>
        </p:nvSpPr>
        <p:spPr>
          <a:xfrm>
            <a:off x="777240" y="4014216"/>
            <a:ext cx="2103120" cy="201168"/>
          </a:xfrm>
          <a:prstGeom prst="rect">
            <a:avLst/>
          </a:prstGeom>
          <a:noFill/>
          <a:ln/>
        </p:spPr>
        <p:txBody>
          <a:bodyPr wrap="square" lIns="0" tIns="0" rIns="0" bIns="0" rtlCol="0" anchor="ctr"/>
          <a:lstStyle/>
          <a:p>
            <a:pPr indent="0" marL="0">
              <a:buNone/>
            </a:pPr>
            <a:r>
              <a:rPr lang="en-US" sz="1050" b="1" dirty="0">
                <a:solidFill>
                  <a:srgbClr val="C0C1FF"/>
                </a:solidFill>
                <a:latin typeface="Courier New" pitchFamily="34" charset="0"/>
                <a:ea typeface="Courier New" pitchFamily="34" charset="-122"/>
                <a:cs typeface="Courier New" pitchFamily="34" charset="-120"/>
              </a:rPr>
              <a:t>lib/github.ts</a:t>
            </a:r>
            <a:endParaRPr lang="en-US" sz="1050" dirty="0"/>
          </a:p>
        </p:txBody>
      </p:sp>
      <p:sp>
        <p:nvSpPr>
          <p:cNvPr id="22" name="Text 20"/>
          <p:cNvSpPr/>
          <p:nvPr/>
        </p:nvSpPr>
        <p:spPr>
          <a:xfrm>
            <a:off x="2880360" y="4014216"/>
            <a:ext cx="2194560" cy="201168"/>
          </a:xfrm>
          <a:prstGeom prst="rect">
            <a:avLst/>
          </a:prstGeom>
          <a:noFill/>
          <a:ln/>
        </p:spPr>
        <p:txBody>
          <a:bodyPr wrap="square" lIns="0" tIns="0" rIns="0" bIns="0" rtlCol="0" anchor="ctr"/>
          <a:lstStyle/>
          <a:p>
            <a:pPr indent="0" marL="0">
              <a:buNone/>
            </a:pPr>
            <a:r>
              <a:rPr lang="en-US" sz="1000" dirty="0">
                <a:solidFill>
                  <a:srgbClr val="A7ADC6"/>
                </a:solidFill>
                <a:latin typeface="Inter" pitchFamily="34" charset="0"/>
                <a:ea typeface="Inter" pitchFamily="34" charset="-122"/>
                <a:cs typeface="Inter" pitchFamily="34" charset="-120"/>
              </a:rPr>
              <a:t>API calls + YAML merge</a:t>
            </a:r>
            <a:endParaRPr lang="en-US" sz="1000" dirty="0"/>
          </a:p>
        </p:txBody>
      </p:sp>
      <p:sp>
        <p:nvSpPr>
          <p:cNvPr id="23" name="Text 21"/>
          <p:cNvSpPr/>
          <p:nvPr/>
        </p:nvSpPr>
        <p:spPr>
          <a:xfrm>
            <a:off x="777240" y="4215384"/>
            <a:ext cx="2103120" cy="201168"/>
          </a:xfrm>
          <a:prstGeom prst="rect">
            <a:avLst/>
          </a:prstGeom>
          <a:noFill/>
          <a:ln/>
        </p:spPr>
        <p:txBody>
          <a:bodyPr wrap="square" lIns="0" tIns="0" rIns="0" bIns="0" rtlCol="0" anchor="ctr"/>
          <a:lstStyle/>
          <a:p>
            <a:pPr indent="0" marL="0">
              <a:buNone/>
            </a:pPr>
            <a:r>
              <a:rPr lang="en-US" sz="1050" b="1" dirty="0">
                <a:solidFill>
                  <a:srgbClr val="C0C1FF"/>
                </a:solidFill>
                <a:latin typeface="Courier New" pitchFamily="34" charset="0"/>
                <a:ea typeface="Courier New" pitchFamily="34" charset="-122"/>
                <a:cs typeface="Courier New" pitchFamily="34" charset="-120"/>
              </a:rPr>
              <a:t>lib/cv.ts</a:t>
            </a:r>
            <a:endParaRPr lang="en-US" sz="1050" dirty="0"/>
          </a:p>
        </p:txBody>
      </p:sp>
      <p:sp>
        <p:nvSpPr>
          <p:cNvPr id="24" name="Text 22"/>
          <p:cNvSpPr/>
          <p:nvPr/>
        </p:nvSpPr>
        <p:spPr>
          <a:xfrm>
            <a:off x="2880360" y="4215384"/>
            <a:ext cx="2194560" cy="201168"/>
          </a:xfrm>
          <a:prstGeom prst="rect">
            <a:avLst/>
          </a:prstGeom>
          <a:noFill/>
          <a:ln/>
        </p:spPr>
        <p:txBody>
          <a:bodyPr wrap="square" lIns="0" tIns="0" rIns="0" bIns="0" rtlCol="0" anchor="ctr"/>
          <a:lstStyle/>
          <a:p>
            <a:pPr indent="0" marL="0">
              <a:buNone/>
            </a:pPr>
            <a:r>
              <a:rPr lang="en-US" sz="1000" dirty="0">
                <a:solidFill>
                  <a:srgbClr val="A7ADC6"/>
                </a:solidFill>
                <a:latin typeface="Inter" pitchFamily="34" charset="0"/>
                <a:ea typeface="Inter" pitchFamily="34" charset="-122"/>
                <a:cs typeface="Inter" pitchFamily="34" charset="-120"/>
              </a:rPr>
              <a:t>CV read / write</a:t>
            </a:r>
            <a:endParaRPr lang="en-US" sz="1000" dirty="0"/>
          </a:p>
        </p:txBody>
      </p:sp>
      <p:sp>
        <p:nvSpPr>
          <p:cNvPr id="25" name="Text 23"/>
          <p:cNvSpPr/>
          <p:nvPr/>
        </p:nvSpPr>
        <p:spPr>
          <a:xfrm>
            <a:off x="777240" y="4416552"/>
            <a:ext cx="2103120" cy="201168"/>
          </a:xfrm>
          <a:prstGeom prst="rect">
            <a:avLst/>
          </a:prstGeom>
          <a:noFill/>
          <a:ln/>
        </p:spPr>
        <p:txBody>
          <a:bodyPr wrap="square" lIns="0" tIns="0" rIns="0" bIns="0" rtlCol="0" anchor="ctr"/>
          <a:lstStyle/>
          <a:p>
            <a:pPr indent="0" marL="0">
              <a:buNone/>
            </a:pPr>
            <a:r>
              <a:rPr lang="en-US" sz="1050" b="1" dirty="0">
                <a:solidFill>
                  <a:srgbClr val="C0C1FF"/>
                </a:solidFill>
                <a:latin typeface="Courier New" pitchFamily="34" charset="0"/>
                <a:ea typeface="Courier New" pitchFamily="34" charset="-122"/>
                <a:cs typeface="Courier New" pitchFamily="34" charset="-120"/>
              </a:rPr>
              <a:t>lib/pageData.ts</a:t>
            </a:r>
            <a:endParaRPr lang="en-US" sz="1050" dirty="0"/>
          </a:p>
        </p:txBody>
      </p:sp>
      <p:sp>
        <p:nvSpPr>
          <p:cNvPr id="26" name="Text 24"/>
          <p:cNvSpPr/>
          <p:nvPr/>
        </p:nvSpPr>
        <p:spPr>
          <a:xfrm>
            <a:off x="2880360" y="4416552"/>
            <a:ext cx="2194560" cy="201168"/>
          </a:xfrm>
          <a:prstGeom prst="rect">
            <a:avLst/>
          </a:prstGeom>
          <a:noFill/>
          <a:ln/>
        </p:spPr>
        <p:txBody>
          <a:bodyPr wrap="square" lIns="0" tIns="0" rIns="0" bIns="0" rtlCol="0" anchor="ctr"/>
          <a:lstStyle/>
          <a:p>
            <a:pPr indent="0" marL="0">
              <a:buNone/>
            </a:pPr>
            <a:r>
              <a:rPr lang="en-US" sz="1000" dirty="0">
                <a:solidFill>
                  <a:srgbClr val="A7ADC6"/>
                </a:solidFill>
                <a:latin typeface="Inter" pitchFamily="34" charset="0"/>
                <a:ea typeface="Inter" pitchFamily="34" charset="-122"/>
                <a:cs typeface="Inter" pitchFamily="34" charset="-120"/>
              </a:rPr>
              <a:t>request cache</a:t>
            </a:r>
            <a:endParaRPr lang="en-US" sz="1000" dirty="0"/>
          </a:p>
        </p:txBody>
      </p:sp>
      <p:sp>
        <p:nvSpPr>
          <p:cNvPr id="27" name="Text 25"/>
          <p:cNvSpPr/>
          <p:nvPr/>
        </p:nvSpPr>
        <p:spPr>
          <a:xfrm>
            <a:off x="5394960" y="2194560"/>
            <a:ext cx="3291840" cy="320040"/>
          </a:xfrm>
          <a:prstGeom prst="rect">
            <a:avLst/>
          </a:prstGeom>
          <a:noFill/>
          <a:ln/>
        </p:spPr>
        <p:txBody>
          <a:bodyPr wrap="square" lIns="0" tIns="0" rIns="0" bIns="0" rtlCol="0" anchor="ctr"/>
          <a:lstStyle/>
          <a:p>
            <a:pPr indent="0" marL="0">
              <a:buNone/>
            </a:pPr>
            <a:r>
              <a:rPr lang="en-US" sz="1300" b="1" spc="400" kern="0" dirty="0">
                <a:solidFill>
                  <a:srgbClr val="C0C1FF"/>
                </a:solidFill>
                <a:latin typeface="Space Grotesk" pitchFamily="34" charset="0"/>
                <a:ea typeface="Space Grotesk" pitchFamily="34" charset="-122"/>
                <a:cs typeface="Space Grotesk" pitchFamily="34" charset="-120"/>
              </a:rPr>
              <a:t>Two conventions</a:t>
            </a:r>
            <a:endParaRPr lang="en-US" sz="1300" dirty="0"/>
          </a:p>
        </p:txBody>
      </p:sp>
      <p:sp>
        <p:nvSpPr>
          <p:cNvPr id="28" name="Shape 26"/>
          <p:cNvSpPr/>
          <p:nvPr/>
        </p:nvSpPr>
        <p:spPr>
          <a:xfrm>
            <a:off x="5394960" y="2606040"/>
            <a:ext cx="45720" cy="914400"/>
          </a:xfrm>
          <a:prstGeom prst="rect">
            <a:avLst/>
          </a:prstGeom>
          <a:solidFill>
            <a:srgbClr val="C0C1FF"/>
          </a:solidFill>
          <a:ln w="12700">
            <a:solidFill>
              <a:srgbClr val="C0C1FF"/>
            </a:solidFill>
            <a:prstDash val="solid"/>
          </a:ln>
        </p:spPr>
      </p:sp>
      <p:sp>
        <p:nvSpPr>
          <p:cNvPr id="29" name="Text 27"/>
          <p:cNvSpPr/>
          <p:nvPr/>
        </p:nvSpPr>
        <p:spPr>
          <a:xfrm>
            <a:off x="5577840" y="2606040"/>
            <a:ext cx="3108960" cy="320040"/>
          </a:xfrm>
          <a:prstGeom prst="rect">
            <a:avLst/>
          </a:prstGeom>
          <a:noFill/>
          <a:ln/>
        </p:spPr>
        <p:txBody>
          <a:bodyPr wrap="square" lIns="0" tIns="0" rIns="0" bIns="0" rtlCol="0" anchor="ctr"/>
          <a:lstStyle/>
          <a:p>
            <a:pPr indent="0" marL="0">
              <a:buNone/>
            </a:pPr>
            <a:r>
              <a:rPr lang="en-US" sz="1300" b="1" dirty="0">
                <a:solidFill>
                  <a:srgbClr val="FFFFFF"/>
                </a:solidFill>
                <a:latin typeface="Space Grotesk" pitchFamily="34" charset="0"/>
                <a:ea typeface="Space Grotesk" pitchFamily="34" charset="-122"/>
                <a:cs typeface="Space Grotesk" pitchFamily="34" charset="-120"/>
              </a:rPr>
              <a:t>Pages don't talk to SDKs</a:t>
            </a:r>
            <a:endParaRPr lang="en-US" sz="1300" dirty="0"/>
          </a:p>
        </p:txBody>
      </p:sp>
      <p:sp>
        <p:nvSpPr>
          <p:cNvPr id="30" name="Text 28"/>
          <p:cNvSpPr/>
          <p:nvPr/>
        </p:nvSpPr>
        <p:spPr>
          <a:xfrm>
            <a:off x="5577840" y="2926080"/>
            <a:ext cx="3108960" cy="594360"/>
          </a:xfrm>
          <a:prstGeom prst="rect">
            <a:avLst/>
          </a:prstGeom>
          <a:noFill/>
          <a:ln/>
        </p:spPr>
        <p:txBody>
          <a:bodyPr wrap="square" lIns="0" tIns="0" rIns="0" bIns="0" rtlCol="0" anchor="ctr"/>
          <a:lstStyle/>
          <a:p>
            <a:pPr indent="0" marL="0">
              <a:buNone/>
            </a:pPr>
            <a:r>
              <a:rPr lang="en-US" sz="1050" dirty="0">
                <a:solidFill>
                  <a:srgbClr val="A7ADC6"/>
                </a:solidFill>
                <a:latin typeface="Inter" pitchFamily="34" charset="0"/>
                <a:ea typeface="Inter" pitchFamily="34" charset="-122"/>
                <a:cs typeface="Inter" pitchFamily="34" charset="-120"/>
              </a:rPr>
              <a:t>Components call lib/ functions. Supabase and fetch live there — never in a component.</a:t>
            </a:r>
            <a:endParaRPr lang="en-US" sz="1050" dirty="0"/>
          </a:p>
        </p:txBody>
      </p:sp>
      <p:sp>
        <p:nvSpPr>
          <p:cNvPr id="31" name="Shape 29"/>
          <p:cNvSpPr/>
          <p:nvPr/>
        </p:nvSpPr>
        <p:spPr>
          <a:xfrm>
            <a:off x="5394960" y="3611880"/>
            <a:ext cx="45720" cy="914400"/>
          </a:xfrm>
          <a:prstGeom prst="rect">
            <a:avLst/>
          </a:prstGeom>
          <a:solidFill>
            <a:srgbClr val="C0C1FF"/>
          </a:solidFill>
          <a:ln w="12700">
            <a:solidFill>
              <a:srgbClr val="C0C1FF"/>
            </a:solidFill>
            <a:prstDash val="solid"/>
          </a:ln>
        </p:spPr>
      </p:sp>
      <p:sp>
        <p:nvSpPr>
          <p:cNvPr id="32" name="Text 30"/>
          <p:cNvSpPr/>
          <p:nvPr/>
        </p:nvSpPr>
        <p:spPr>
          <a:xfrm>
            <a:off x="5577840" y="3611880"/>
            <a:ext cx="3108960" cy="320040"/>
          </a:xfrm>
          <a:prstGeom prst="rect">
            <a:avLst/>
          </a:prstGeom>
          <a:noFill/>
          <a:ln/>
        </p:spPr>
        <p:txBody>
          <a:bodyPr wrap="square" lIns="0" tIns="0" rIns="0" bIns="0" rtlCol="0" anchor="ctr"/>
          <a:lstStyle/>
          <a:p>
            <a:pPr indent="0" marL="0">
              <a:buNone/>
            </a:pPr>
            <a:r>
              <a:rPr lang="en-US" sz="1300" b="1" dirty="0">
                <a:solidFill>
                  <a:srgbClr val="FFFFFF"/>
                </a:solidFill>
                <a:latin typeface="Space Grotesk" pitchFamily="34" charset="0"/>
                <a:ea typeface="Space Grotesk" pitchFamily="34" charset="-122"/>
                <a:cs typeface="Space Grotesk" pitchFamily="34" charset="-120"/>
              </a:rPr>
              <a:t>One concern per file in lib/</a:t>
            </a:r>
            <a:endParaRPr lang="en-US" sz="1300" dirty="0"/>
          </a:p>
        </p:txBody>
      </p:sp>
      <p:sp>
        <p:nvSpPr>
          <p:cNvPr id="33" name="Text 31"/>
          <p:cNvSpPr/>
          <p:nvPr/>
        </p:nvSpPr>
        <p:spPr>
          <a:xfrm>
            <a:off x="5577840" y="3931920"/>
            <a:ext cx="3108960" cy="594360"/>
          </a:xfrm>
          <a:prstGeom prst="rect">
            <a:avLst/>
          </a:prstGeom>
          <a:noFill/>
          <a:ln/>
        </p:spPr>
        <p:txBody>
          <a:bodyPr wrap="square" lIns="0" tIns="0" rIns="0" bIns="0" rtlCol="0" anchor="ctr"/>
          <a:lstStyle/>
          <a:p>
            <a:pPr indent="0" marL="0">
              <a:buNone/>
            </a:pPr>
            <a:r>
              <a:rPr lang="en-US" sz="1050" dirty="0">
                <a:solidFill>
                  <a:srgbClr val="A7ADC6"/>
                </a:solidFill>
                <a:latin typeface="Inter" pitchFamily="34" charset="0"/>
                <a:ea typeface="Inter" pitchFamily="34" charset="-122"/>
                <a:cs typeface="Inter" pitchFamily="34" charset="-120"/>
              </a:rPr>
              <a:t>github.ts only knows GitHub. portfolio.ts only knows the database tables it owns.</a:t>
            </a:r>
            <a:endParaRPr lang="en-US" sz="1050" dirty="0"/>
          </a:p>
        </p:txBody>
      </p:sp>
      <p:sp>
        <p:nvSpPr>
          <p:cNvPr id="34" name="Shape 32"/>
          <p:cNvSpPr/>
          <p:nvPr/>
        </p:nvSpPr>
        <p:spPr>
          <a:xfrm>
            <a:off x="457200" y="4828032"/>
            <a:ext cx="8229600" cy="0"/>
          </a:xfrm>
          <a:prstGeom prst="line">
            <a:avLst/>
          </a:prstGeom>
          <a:noFill/>
          <a:ln w="9525">
            <a:solidFill>
              <a:srgbClr val="2A3660"/>
            </a:solidFill>
            <a:prstDash val="solid"/>
          </a:ln>
        </p:spPr>
      </p:sp>
      <p:sp>
        <p:nvSpPr>
          <p:cNvPr id="35" name="Text 33"/>
          <p:cNvSpPr/>
          <p:nvPr/>
        </p:nvSpPr>
        <p:spPr>
          <a:xfrm>
            <a:off x="457200" y="4864608"/>
            <a:ext cx="2743200" cy="228600"/>
          </a:xfrm>
          <a:prstGeom prst="rect">
            <a:avLst/>
          </a:prstGeom>
          <a:noFill/>
          <a:ln/>
        </p:spPr>
        <p:txBody>
          <a:bodyPr wrap="square" lIns="0" tIns="0" rIns="0" bIns="0" rtlCol="0" anchor="ctr"/>
          <a:lstStyle/>
          <a:p>
            <a:pPr indent="0" marL="0">
              <a:buNone/>
            </a:pPr>
            <a:r>
              <a:rPr lang="en-US" sz="800" b="1" spc="400" kern="0" dirty="0">
                <a:solidFill>
                  <a:srgbClr val="6E7699"/>
                </a:solidFill>
                <a:latin typeface="Space Grotesk" pitchFamily="34" charset="0"/>
                <a:ea typeface="Space Grotesk" pitchFamily="34" charset="-122"/>
                <a:cs typeface="Space Grotesk" pitchFamily="34" charset="-120"/>
              </a:rPr>
              <a:t>ARCHITECT.DEV</a:t>
            </a:r>
            <a:endParaRPr lang="en-US" sz="800" dirty="0"/>
          </a:p>
        </p:txBody>
      </p:sp>
      <p:sp>
        <p:nvSpPr>
          <p:cNvPr id="36" name="Text 34"/>
          <p:cNvSpPr/>
          <p:nvPr/>
        </p:nvSpPr>
        <p:spPr>
          <a:xfrm>
            <a:off x="6400800" y="4864608"/>
            <a:ext cx="2286000" cy="228600"/>
          </a:xfrm>
          <a:prstGeom prst="rect">
            <a:avLst/>
          </a:prstGeom>
          <a:noFill/>
          <a:ln/>
        </p:spPr>
        <p:txBody>
          <a:bodyPr wrap="square" lIns="0" tIns="0" rIns="0" bIns="0" rtlCol="0" anchor="ctr"/>
          <a:lstStyle/>
          <a:p>
            <a:pPr algn="r" indent="0" marL="0">
              <a:buNone/>
            </a:pPr>
            <a:r>
              <a:rPr lang="en-US" sz="800" dirty="0">
                <a:solidFill>
                  <a:srgbClr val="6E7699"/>
                </a:solidFill>
                <a:latin typeface="Space Grotesk" pitchFamily="34" charset="0"/>
                <a:ea typeface="Space Grotesk" pitchFamily="34" charset="-122"/>
                <a:cs typeface="Space Grotesk" pitchFamily="34" charset="-120"/>
              </a:rPr>
              <a:t>9 / 12</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326"/>
        </a:solidFill>
      </p:bgPr>
    </p:bg>
    <p:spTree>
      <p:nvGrpSpPr>
        <p:cNvPr id="1" name=""/>
        <p:cNvGrpSpPr/>
        <p:nvPr/>
      </p:nvGrpSpPr>
      <p:grpSpPr>
        <a:xfrm>
          <a:off x="0" y="0"/>
          <a:ext cx="0" cy="0"/>
          <a:chOff x="0" y="0"/>
          <a:chExt cx="0" cy="0"/>
        </a:xfrm>
      </p:grpSpPr>
      <p:sp>
        <p:nvSpPr>
          <p:cNvPr id="2" name="Text 0"/>
          <p:cNvSpPr/>
          <p:nvPr/>
        </p:nvSpPr>
        <p:spPr>
          <a:xfrm>
            <a:off x="457200" y="365760"/>
            <a:ext cx="8229600" cy="228600"/>
          </a:xfrm>
          <a:prstGeom prst="rect">
            <a:avLst/>
          </a:prstGeom>
          <a:noFill/>
          <a:ln/>
        </p:spPr>
        <p:txBody>
          <a:bodyPr wrap="square" lIns="0" tIns="0" rIns="0" bIns="0" rtlCol="0" anchor="ctr"/>
          <a:lstStyle/>
          <a:p>
            <a:pPr indent="0" marL="0">
              <a:buNone/>
            </a:pPr>
            <a:r>
              <a:rPr lang="en-US" sz="1000" b="1" spc="600" kern="0" dirty="0">
                <a:solidFill>
                  <a:srgbClr val="C0C1FF"/>
                </a:solidFill>
                <a:latin typeface="Space Grotesk" pitchFamily="34" charset="0"/>
                <a:ea typeface="Space Grotesk" pitchFamily="34" charset="-122"/>
                <a:cs typeface="Space Grotesk" pitchFamily="34" charset="-120"/>
              </a:rPr>
              <a:t>09 · DATA FLOW</a:t>
            </a:r>
            <a:endParaRPr lang="en-US" sz="1000" dirty="0"/>
          </a:p>
        </p:txBody>
      </p:sp>
      <p:sp>
        <p:nvSpPr>
          <p:cNvPr id="3" name="Text 1"/>
          <p:cNvSpPr/>
          <p:nvPr/>
        </p:nvSpPr>
        <p:spPr>
          <a:xfrm>
            <a:off x="457200" y="685800"/>
            <a:ext cx="8229600" cy="1280160"/>
          </a:xfrm>
          <a:prstGeom prst="rect">
            <a:avLst/>
          </a:prstGeom>
          <a:noFill/>
          <a:ln/>
        </p:spPr>
        <p:txBody>
          <a:bodyPr wrap="square" lIns="0" tIns="0" rIns="0" bIns="0" rtlCol="0" anchor="ctr"/>
          <a:lstStyle/>
          <a:p>
            <a:pPr indent="0" marL="0">
              <a:buNone/>
            </a:pPr>
            <a:r>
              <a:rPr lang="en-US" sz="3000" b="1" dirty="0">
                <a:solidFill>
                  <a:srgbClr val="FFFFFF"/>
                </a:solidFill>
                <a:latin typeface="Space Grotesk" pitchFamily="34" charset="0"/>
                <a:ea typeface="Space Grotesk" pitchFamily="34" charset="-122"/>
                <a:cs typeface="Space Grotesk" pitchFamily="34" charset="-120"/>
              </a:rPr>
              <a:t>What happens when you</a:t>
            </a:r>
            <a:endParaRPr lang="en-US" sz="3000" dirty="0"/>
          </a:p>
          <a:p>
            <a:pPr indent="0" marL="0">
              <a:buNone/>
            </a:pPr>
            <a:r>
              <a:rPr lang="en-US" sz="3000" b="1" dirty="0">
                <a:solidFill>
                  <a:srgbClr val="FFFFFF"/>
                </a:solidFill>
                <a:latin typeface="Space Grotesk" pitchFamily="34" charset="0"/>
                <a:ea typeface="Space Grotesk" pitchFamily="34" charset="-122"/>
                <a:cs typeface="Space Grotesk" pitchFamily="34" charset="-120"/>
              </a:rPr>
              <a:t>open a portfolio.</a:t>
            </a:r>
            <a:endParaRPr lang="en-US" sz="3000" dirty="0"/>
          </a:p>
        </p:txBody>
      </p:sp>
      <p:sp>
        <p:nvSpPr>
          <p:cNvPr id="4" name="Text 2"/>
          <p:cNvSpPr/>
          <p:nvPr/>
        </p:nvSpPr>
        <p:spPr>
          <a:xfrm>
            <a:off x="457200" y="2194560"/>
            <a:ext cx="548640" cy="365760"/>
          </a:xfrm>
          <a:prstGeom prst="rect">
            <a:avLst/>
          </a:prstGeom>
          <a:noFill/>
          <a:ln/>
        </p:spPr>
        <p:txBody>
          <a:bodyPr wrap="square" lIns="0" tIns="0" rIns="0" bIns="0" rtlCol="0" anchor="ctr"/>
          <a:lstStyle/>
          <a:p>
            <a:pPr indent="0" marL="0">
              <a:buNone/>
            </a:pPr>
            <a:r>
              <a:rPr lang="en-US" sz="2000" b="1" dirty="0">
                <a:solidFill>
                  <a:srgbClr val="C0C1FF"/>
                </a:solidFill>
                <a:latin typeface="Space Grotesk" pitchFamily="34" charset="0"/>
                <a:ea typeface="Space Grotesk" pitchFamily="34" charset="-122"/>
                <a:cs typeface="Space Grotesk" pitchFamily="34" charset="-120"/>
              </a:rPr>
              <a:t>01</a:t>
            </a:r>
            <a:endParaRPr lang="en-US" sz="2000" dirty="0"/>
          </a:p>
        </p:txBody>
      </p:sp>
      <p:sp>
        <p:nvSpPr>
          <p:cNvPr id="5" name="Text 3"/>
          <p:cNvSpPr/>
          <p:nvPr/>
        </p:nvSpPr>
        <p:spPr>
          <a:xfrm>
            <a:off x="1097280" y="2194560"/>
            <a:ext cx="3291840" cy="320040"/>
          </a:xfrm>
          <a:prstGeom prst="rect">
            <a:avLst/>
          </a:prstGeom>
          <a:noFill/>
          <a:ln/>
        </p:spPr>
        <p:txBody>
          <a:bodyPr wrap="square" lIns="0" tIns="0" rIns="0" bIns="0" rtlCol="0" anchor="ctr"/>
          <a:lstStyle/>
          <a:p>
            <a:pPr indent="0" marL="0">
              <a:buNone/>
            </a:pPr>
            <a:r>
              <a:rPr lang="en-US" sz="1300" b="1" dirty="0">
                <a:solidFill>
                  <a:srgbClr val="FFFFFF"/>
                </a:solidFill>
                <a:latin typeface="Space Grotesk" pitchFamily="34" charset="0"/>
                <a:ea typeface="Space Grotesk" pitchFamily="34" charset="-122"/>
                <a:cs typeface="Space Grotesk" pitchFamily="34" charset="-120"/>
              </a:rPr>
              <a:t>URL hash changes</a:t>
            </a:r>
            <a:endParaRPr lang="en-US" sz="1300" dirty="0"/>
          </a:p>
        </p:txBody>
      </p:sp>
      <p:sp>
        <p:nvSpPr>
          <p:cNvPr id="6" name="Text 4"/>
          <p:cNvSpPr/>
          <p:nvPr/>
        </p:nvSpPr>
        <p:spPr>
          <a:xfrm>
            <a:off x="1097280" y="2514600"/>
            <a:ext cx="3291840" cy="411480"/>
          </a:xfrm>
          <a:prstGeom prst="rect">
            <a:avLst/>
          </a:prstGeom>
          <a:noFill/>
          <a:ln/>
        </p:spPr>
        <p:txBody>
          <a:bodyPr wrap="square" lIns="0" tIns="0" rIns="0" bIns="0" rtlCol="0" anchor="ctr"/>
          <a:lstStyle/>
          <a:p>
            <a:pPr indent="0" marL="0">
              <a:buNone/>
            </a:pPr>
            <a:r>
              <a:rPr lang="en-US" sz="1050" dirty="0">
                <a:solidFill>
                  <a:srgbClr val="A7ADC6"/>
                </a:solidFill>
                <a:latin typeface="Inter" pitchFamily="34" charset="0"/>
                <a:ea typeface="Inter" pitchFamily="34" charset="-122"/>
                <a:cs typeface="Inter" pitchFamily="34" charset="-120"/>
              </a:rPr>
              <a:t>#u/{name} → App.tsx parses it via useSyncExternalStore.</a:t>
            </a:r>
            <a:endParaRPr lang="en-US" sz="1050" dirty="0"/>
          </a:p>
        </p:txBody>
      </p:sp>
      <p:sp>
        <p:nvSpPr>
          <p:cNvPr id="7" name="Text 5"/>
          <p:cNvSpPr/>
          <p:nvPr/>
        </p:nvSpPr>
        <p:spPr>
          <a:xfrm>
            <a:off x="4663440" y="2194560"/>
            <a:ext cx="548640" cy="365760"/>
          </a:xfrm>
          <a:prstGeom prst="rect">
            <a:avLst/>
          </a:prstGeom>
          <a:noFill/>
          <a:ln/>
        </p:spPr>
        <p:txBody>
          <a:bodyPr wrap="square" lIns="0" tIns="0" rIns="0" bIns="0" rtlCol="0" anchor="ctr"/>
          <a:lstStyle/>
          <a:p>
            <a:pPr indent="0" marL="0">
              <a:buNone/>
            </a:pPr>
            <a:r>
              <a:rPr lang="en-US" sz="2000" b="1" dirty="0">
                <a:solidFill>
                  <a:srgbClr val="C0C1FF"/>
                </a:solidFill>
                <a:latin typeface="Space Grotesk" pitchFamily="34" charset="0"/>
                <a:ea typeface="Space Grotesk" pitchFamily="34" charset="-122"/>
                <a:cs typeface="Space Grotesk" pitchFamily="34" charset="-120"/>
              </a:rPr>
              <a:t>02</a:t>
            </a:r>
            <a:endParaRPr lang="en-US" sz="2000" dirty="0"/>
          </a:p>
        </p:txBody>
      </p:sp>
      <p:sp>
        <p:nvSpPr>
          <p:cNvPr id="8" name="Text 6"/>
          <p:cNvSpPr/>
          <p:nvPr/>
        </p:nvSpPr>
        <p:spPr>
          <a:xfrm>
            <a:off x="5303520" y="2194560"/>
            <a:ext cx="3291840" cy="320040"/>
          </a:xfrm>
          <a:prstGeom prst="rect">
            <a:avLst/>
          </a:prstGeom>
          <a:noFill/>
          <a:ln/>
        </p:spPr>
        <p:txBody>
          <a:bodyPr wrap="square" lIns="0" tIns="0" rIns="0" bIns="0" rtlCol="0" anchor="ctr"/>
          <a:lstStyle/>
          <a:p>
            <a:pPr indent="0" marL="0">
              <a:buNone/>
            </a:pPr>
            <a:r>
              <a:rPr lang="en-US" sz="1300" b="1" dirty="0">
                <a:solidFill>
                  <a:srgbClr val="FFFFFF"/>
                </a:solidFill>
                <a:latin typeface="Space Grotesk" pitchFamily="34" charset="0"/>
                <a:ea typeface="Space Grotesk" pitchFamily="34" charset="-122"/>
                <a:cs typeface="Space Grotesk" pitchFamily="34" charset="-120"/>
              </a:rPr>
              <a:t>Page mounts</a:t>
            </a:r>
            <a:endParaRPr lang="en-US" sz="1300" dirty="0"/>
          </a:p>
        </p:txBody>
      </p:sp>
      <p:sp>
        <p:nvSpPr>
          <p:cNvPr id="9" name="Text 7"/>
          <p:cNvSpPr/>
          <p:nvPr/>
        </p:nvSpPr>
        <p:spPr>
          <a:xfrm>
            <a:off x="5303520" y="2514600"/>
            <a:ext cx="3291840" cy="411480"/>
          </a:xfrm>
          <a:prstGeom prst="rect">
            <a:avLst/>
          </a:prstGeom>
          <a:noFill/>
          <a:ln/>
        </p:spPr>
        <p:txBody>
          <a:bodyPr wrap="square" lIns="0" tIns="0" rIns="0" bIns="0" rtlCol="0" anchor="ctr"/>
          <a:lstStyle/>
          <a:p>
            <a:pPr indent="0" marL="0">
              <a:buNone/>
            </a:pPr>
            <a:r>
              <a:rPr lang="en-US" sz="1050" dirty="0">
                <a:solidFill>
                  <a:srgbClr val="A7ADC6"/>
                </a:solidFill>
                <a:latin typeface="Inter" pitchFamily="34" charset="0"/>
                <a:ea typeface="Inter" pitchFamily="34" charset="-122"/>
                <a:cs typeface="Inter" pitchFamily="34" charset="-120"/>
              </a:rPr>
              <a:t>UserPage calls loadUserPageData(name) from lib/pageData.ts.</a:t>
            </a:r>
            <a:endParaRPr lang="en-US" sz="1050" dirty="0"/>
          </a:p>
        </p:txBody>
      </p:sp>
      <p:sp>
        <p:nvSpPr>
          <p:cNvPr id="10" name="Text 8"/>
          <p:cNvSpPr/>
          <p:nvPr/>
        </p:nvSpPr>
        <p:spPr>
          <a:xfrm>
            <a:off x="457200" y="2971800"/>
            <a:ext cx="548640" cy="365760"/>
          </a:xfrm>
          <a:prstGeom prst="rect">
            <a:avLst/>
          </a:prstGeom>
          <a:noFill/>
          <a:ln/>
        </p:spPr>
        <p:txBody>
          <a:bodyPr wrap="square" lIns="0" tIns="0" rIns="0" bIns="0" rtlCol="0" anchor="ctr"/>
          <a:lstStyle/>
          <a:p>
            <a:pPr indent="0" marL="0">
              <a:buNone/>
            </a:pPr>
            <a:r>
              <a:rPr lang="en-US" sz="2000" b="1" dirty="0">
                <a:solidFill>
                  <a:srgbClr val="C0C1FF"/>
                </a:solidFill>
                <a:latin typeface="Space Grotesk" pitchFamily="34" charset="0"/>
                <a:ea typeface="Space Grotesk" pitchFamily="34" charset="-122"/>
                <a:cs typeface="Space Grotesk" pitchFamily="34" charset="-120"/>
              </a:rPr>
              <a:t>03</a:t>
            </a:r>
            <a:endParaRPr lang="en-US" sz="2000" dirty="0"/>
          </a:p>
        </p:txBody>
      </p:sp>
      <p:sp>
        <p:nvSpPr>
          <p:cNvPr id="11" name="Text 9"/>
          <p:cNvSpPr/>
          <p:nvPr/>
        </p:nvSpPr>
        <p:spPr>
          <a:xfrm>
            <a:off x="1097280" y="2971800"/>
            <a:ext cx="3291840" cy="320040"/>
          </a:xfrm>
          <a:prstGeom prst="rect">
            <a:avLst/>
          </a:prstGeom>
          <a:noFill/>
          <a:ln/>
        </p:spPr>
        <p:txBody>
          <a:bodyPr wrap="square" lIns="0" tIns="0" rIns="0" bIns="0" rtlCol="0" anchor="ctr"/>
          <a:lstStyle/>
          <a:p>
            <a:pPr indent="0" marL="0">
              <a:buNone/>
            </a:pPr>
            <a:r>
              <a:rPr lang="en-US" sz="1300" b="1" dirty="0">
                <a:solidFill>
                  <a:srgbClr val="FFFFFF"/>
                </a:solidFill>
                <a:latin typeface="Space Grotesk" pitchFamily="34" charset="0"/>
                <a:ea typeface="Space Grotesk" pitchFamily="34" charset="-122"/>
                <a:cs typeface="Space Grotesk" pitchFamily="34" charset="-120"/>
              </a:rPr>
              <a:t>Supabase fetches</a:t>
            </a:r>
            <a:endParaRPr lang="en-US" sz="1300" dirty="0"/>
          </a:p>
        </p:txBody>
      </p:sp>
      <p:sp>
        <p:nvSpPr>
          <p:cNvPr id="12" name="Text 10"/>
          <p:cNvSpPr/>
          <p:nvPr/>
        </p:nvSpPr>
        <p:spPr>
          <a:xfrm>
            <a:off x="1097280" y="3291840"/>
            <a:ext cx="3291840" cy="411480"/>
          </a:xfrm>
          <a:prstGeom prst="rect">
            <a:avLst/>
          </a:prstGeom>
          <a:noFill/>
          <a:ln/>
        </p:spPr>
        <p:txBody>
          <a:bodyPr wrap="square" lIns="0" tIns="0" rIns="0" bIns="0" rtlCol="0" anchor="ctr"/>
          <a:lstStyle/>
          <a:p>
            <a:pPr indent="0" marL="0">
              <a:buNone/>
            </a:pPr>
            <a:r>
              <a:rPr lang="en-US" sz="1050" dirty="0">
                <a:solidFill>
                  <a:srgbClr val="A7ADC6"/>
                </a:solidFill>
                <a:latin typeface="Inter" pitchFamily="34" charset="0"/>
                <a:ea typeface="Inter" pitchFamily="34" charset="-122"/>
                <a:cs typeface="Inter" pitchFamily="34" charset="-120"/>
              </a:rPr>
              <a:t>profile row + that user's folders + portfolio_items.</a:t>
            </a:r>
            <a:endParaRPr lang="en-US" sz="1050" dirty="0"/>
          </a:p>
        </p:txBody>
      </p:sp>
      <p:sp>
        <p:nvSpPr>
          <p:cNvPr id="13" name="Text 11"/>
          <p:cNvSpPr/>
          <p:nvPr/>
        </p:nvSpPr>
        <p:spPr>
          <a:xfrm>
            <a:off x="4663440" y="2971800"/>
            <a:ext cx="548640" cy="365760"/>
          </a:xfrm>
          <a:prstGeom prst="rect">
            <a:avLst/>
          </a:prstGeom>
          <a:noFill/>
          <a:ln/>
        </p:spPr>
        <p:txBody>
          <a:bodyPr wrap="square" lIns="0" tIns="0" rIns="0" bIns="0" rtlCol="0" anchor="ctr"/>
          <a:lstStyle/>
          <a:p>
            <a:pPr indent="0" marL="0">
              <a:buNone/>
            </a:pPr>
            <a:r>
              <a:rPr lang="en-US" sz="2000" b="1" dirty="0">
                <a:solidFill>
                  <a:srgbClr val="C0C1FF"/>
                </a:solidFill>
                <a:latin typeface="Space Grotesk" pitchFamily="34" charset="0"/>
                <a:ea typeface="Space Grotesk" pitchFamily="34" charset="-122"/>
                <a:cs typeface="Space Grotesk" pitchFamily="34" charset="-120"/>
              </a:rPr>
              <a:t>04</a:t>
            </a:r>
            <a:endParaRPr lang="en-US" sz="2000" dirty="0"/>
          </a:p>
        </p:txBody>
      </p:sp>
      <p:sp>
        <p:nvSpPr>
          <p:cNvPr id="14" name="Text 12"/>
          <p:cNvSpPr/>
          <p:nvPr/>
        </p:nvSpPr>
        <p:spPr>
          <a:xfrm>
            <a:off x="5303520" y="2971800"/>
            <a:ext cx="3291840" cy="320040"/>
          </a:xfrm>
          <a:prstGeom prst="rect">
            <a:avLst/>
          </a:prstGeom>
          <a:noFill/>
          <a:ln/>
        </p:spPr>
        <p:txBody>
          <a:bodyPr wrap="square" lIns="0" tIns="0" rIns="0" bIns="0" rtlCol="0" anchor="ctr"/>
          <a:lstStyle/>
          <a:p>
            <a:pPr indent="0" marL="0">
              <a:buNone/>
            </a:pPr>
            <a:r>
              <a:rPr lang="en-US" sz="1300" b="1" dirty="0">
                <a:solidFill>
                  <a:srgbClr val="FFFFFF"/>
                </a:solidFill>
                <a:latin typeface="Space Grotesk" pitchFamily="34" charset="0"/>
                <a:ea typeface="Space Grotesk" pitchFamily="34" charset="-122"/>
                <a:cs typeface="Space Grotesk" pitchFamily="34" charset="-120"/>
              </a:rPr>
              <a:t>GitHub fetches</a:t>
            </a:r>
            <a:endParaRPr lang="en-US" sz="1300" dirty="0"/>
          </a:p>
        </p:txBody>
      </p:sp>
      <p:sp>
        <p:nvSpPr>
          <p:cNvPr id="15" name="Text 13"/>
          <p:cNvSpPr/>
          <p:nvPr/>
        </p:nvSpPr>
        <p:spPr>
          <a:xfrm>
            <a:off x="5303520" y="3291840"/>
            <a:ext cx="3291840" cy="411480"/>
          </a:xfrm>
          <a:prstGeom prst="rect">
            <a:avLst/>
          </a:prstGeom>
          <a:noFill/>
          <a:ln/>
        </p:spPr>
        <p:txBody>
          <a:bodyPr wrap="square" lIns="0" tIns="0" rIns="0" bIns="0" rtlCol="0" anchor="ctr"/>
          <a:lstStyle/>
          <a:p>
            <a:pPr indent="0" marL="0">
              <a:buNone/>
            </a:pPr>
            <a:r>
              <a:rPr lang="en-US" sz="1050" dirty="0">
                <a:solidFill>
                  <a:srgbClr val="A7ADC6"/>
                </a:solidFill>
                <a:latin typeface="Inter" pitchFamily="34" charset="0"/>
                <a:ea typeface="Inter" pitchFamily="34" charset="-122"/>
                <a:cs typeface="Inter" pitchFamily="34" charset="-120"/>
              </a:rPr>
              <a:t>user profile, repos, and each portfolio.yaml in parallel.</a:t>
            </a:r>
            <a:endParaRPr lang="en-US" sz="1050" dirty="0"/>
          </a:p>
        </p:txBody>
      </p:sp>
      <p:sp>
        <p:nvSpPr>
          <p:cNvPr id="16" name="Text 14"/>
          <p:cNvSpPr/>
          <p:nvPr/>
        </p:nvSpPr>
        <p:spPr>
          <a:xfrm>
            <a:off x="457200" y="3749040"/>
            <a:ext cx="548640" cy="365760"/>
          </a:xfrm>
          <a:prstGeom prst="rect">
            <a:avLst/>
          </a:prstGeom>
          <a:noFill/>
          <a:ln/>
        </p:spPr>
        <p:txBody>
          <a:bodyPr wrap="square" lIns="0" tIns="0" rIns="0" bIns="0" rtlCol="0" anchor="ctr"/>
          <a:lstStyle/>
          <a:p>
            <a:pPr indent="0" marL="0">
              <a:buNone/>
            </a:pPr>
            <a:r>
              <a:rPr lang="en-US" sz="2000" b="1" dirty="0">
                <a:solidFill>
                  <a:srgbClr val="C0C1FF"/>
                </a:solidFill>
                <a:latin typeface="Space Grotesk" pitchFamily="34" charset="0"/>
                <a:ea typeface="Space Grotesk" pitchFamily="34" charset="-122"/>
                <a:cs typeface="Space Grotesk" pitchFamily="34" charset="-120"/>
              </a:rPr>
              <a:t>05</a:t>
            </a:r>
            <a:endParaRPr lang="en-US" sz="2000" dirty="0"/>
          </a:p>
        </p:txBody>
      </p:sp>
      <p:sp>
        <p:nvSpPr>
          <p:cNvPr id="17" name="Text 15"/>
          <p:cNvSpPr/>
          <p:nvPr/>
        </p:nvSpPr>
        <p:spPr>
          <a:xfrm>
            <a:off x="1097280" y="3749040"/>
            <a:ext cx="3291840" cy="320040"/>
          </a:xfrm>
          <a:prstGeom prst="rect">
            <a:avLst/>
          </a:prstGeom>
          <a:noFill/>
          <a:ln/>
        </p:spPr>
        <p:txBody>
          <a:bodyPr wrap="square" lIns="0" tIns="0" rIns="0" bIns="0" rtlCol="0" anchor="ctr"/>
          <a:lstStyle/>
          <a:p>
            <a:pPr indent="0" marL="0">
              <a:buNone/>
            </a:pPr>
            <a:r>
              <a:rPr lang="en-US" sz="1300" b="1" dirty="0">
                <a:solidFill>
                  <a:srgbClr val="FFFFFF"/>
                </a:solidFill>
                <a:latin typeface="Space Grotesk" pitchFamily="34" charset="0"/>
                <a:ea typeface="Space Grotesk" pitchFamily="34" charset="-122"/>
                <a:cs typeface="Space Grotesk" pitchFamily="34" charset="-120"/>
              </a:rPr>
              <a:t>Merge + memoise</a:t>
            </a:r>
            <a:endParaRPr lang="en-US" sz="1300" dirty="0"/>
          </a:p>
        </p:txBody>
      </p:sp>
      <p:sp>
        <p:nvSpPr>
          <p:cNvPr id="18" name="Text 16"/>
          <p:cNvSpPr/>
          <p:nvPr/>
        </p:nvSpPr>
        <p:spPr>
          <a:xfrm>
            <a:off x="1097280" y="4069080"/>
            <a:ext cx="3291840" cy="411480"/>
          </a:xfrm>
          <a:prstGeom prst="rect">
            <a:avLst/>
          </a:prstGeom>
          <a:noFill/>
          <a:ln/>
        </p:spPr>
        <p:txBody>
          <a:bodyPr wrap="square" lIns="0" tIns="0" rIns="0" bIns="0" rtlCol="0" anchor="ctr"/>
          <a:lstStyle/>
          <a:p>
            <a:pPr indent="0" marL="0">
              <a:buNone/>
            </a:pPr>
            <a:r>
              <a:rPr lang="en-US" sz="1050" dirty="0">
                <a:solidFill>
                  <a:srgbClr val="A7ADC6"/>
                </a:solidFill>
                <a:latin typeface="Inter" pitchFamily="34" charset="0"/>
                <a:ea typeface="Inter" pitchFamily="34" charset="-122"/>
                <a:cs typeface="Inter" pitchFamily="34" charset="-120"/>
              </a:rPr>
              <a:t>Projects are bucketed into folders with useMemo.</a:t>
            </a:r>
            <a:endParaRPr lang="en-US" sz="1050" dirty="0"/>
          </a:p>
        </p:txBody>
      </p:sp>
      <p:sp>
        <p:nvSpPr>
          <p:cNvPr id="19" name="Text 17"/>
          <p:cNvSpPr/>
          <p:nvPr/>
        </p:nvSpPr>
        <p:spPr>
          <a:xfrm>
            <a:off x="4663440" y="3749040"/>
            <a:ext cx="548640" cy="365760"/>
          </a:xfrm>
          <a:prstGeom prst="rect">
            <a:avLst/>
          </a:prstGeom>
          <a:noFill/>
          <a:ln/>
        </p:spPr>
        <p:txBody>
          <a:bodyPr wrap="square" lIns="0" tIns="0" rIns="0" bIns="0" rtlCol="0" anchor="ctr"/>
          <a:lstStyle/>
          <a:p>
            <a:pPr indent="0" marL="0">
              <a:buNone/>
            </a:pPr>
            <a:r>
              <a:rPr lang="en-US" sz="2000" b="1" dirty="0">
                <a:solidFill>
                  <a:srgbClr val="C0C1FF"/>
                </a:solidFill>
                <a:latin typeface="Space Grotesk" pitchFamily="34" charset="0"/>
                <a:ea typeface="Space Grotesk" pitchFamily="34" charset="-122"/>
                <a:cs typeface="Space Grotesk" pitchFamily="34" charset="-120"/>
              </a:rPr>
              <a:t>06</a:t>
            </a:r>
            <a:endParaRPr lang="en-US" sz="2000" dirty="0"/>
          </a:p>
        </p:txBody>
      </p:sp>
      <p:sp>
        <p:nvSpPr>
          <p:cNvPr id="20" name="Text 18"/>
          <p:cNvSpPr/>
          <p:nvPr/>
        </p:nvSpPr>
        <p:spPr>
          <a:xfrm>
            <a:off x="5303520" y="3749040"/>
            <a:ext cx="3291840" cy="320040"/>
          </a:xfrm>
          <a:prstGeom prst="rect">
            <a:avLst/>
          </a:prstGeom>
          <a:noFill/>
          <a:ln/>
        </p:spPr>
        <p:txBody>
          <a:bodyPr wrap="square" lIns="0" tIns="0" rIns="0" bIns="0" rtlCol="0" anchor="ctr"/>
          <a:lstStyle/>
          <a:p>
            <a:pPr indent="0" marL="0">
              <a:buNone/>
            </a:pPr>
            <a:r>
              <a:rPr lang="en-US" sz="1300" b="1" dirty="0">
                <a:solidFill>
                  <a:srgbClr val="FFFFFF"/>
                </a:solidFill>
                <a:latin typeface="Space Grotesk" pitchFamily="34" charset="0"/>
                <a:ea typeface="Space Grotesk" pitchFamily="34" charset="-122"/>
                <a:cs typeface="Space Grotesk" pitchFamily="34" charset="-120"/>
              </a:rPr>
              <a:t>Render</a:t>
            </a:r>
            <a:endParaRPr lang="en-US" sz="1300" dirty="0"/>
          </a:p>
        </p:txBody>
      </p:sp>
      <p:sp>
        <p:nvSpPr>
          <p:cNvPr id="21" name="Text 19"/>
          <p:cNvSpPr/>
          <p:nvPr/>
        </p:nvSpPr>
        <p:spPr>
          <a:xfrm>
            <a:off x="5303520" y="4069080"/>
            <a:ext cx="3291840" cy="411480"/>
          </a:xfrm>
          <a:prstGeom prst="rect">
            <a:avLst/>
          </a:prstGeom>
          <a:noFill/>
          <a:ln/>
        </p:spPr>
        <p:txBody>
          <a:bodyPr wrap="square" lIns="0" tIns="0" rIns="0" bIns="0" rtlCol="0" anchor="ctr"/>
          <a:lstStyle/>
          <a:p>
            <a:pPr indent="0" marL="0">
              <a:buNone/>
            </a:pPr>
            <a:r>
              <a:rPr lang="en-US" sz="1050" dirty="0">
                <a:solidFill>
                  <a:srgbClr val="A7ADC6"/>
                </a:solidFill>
                <a:latin typeface="Inter" pitchFamily="34" charset="0"/>
                <a:ea typeface="Inter" pitchFamily="34" charset="-122"/>
                <a:cs typeface="Inter" pitchFamily="34" charset="-120"/>
              </a:rPr>
              <a:t>ProjectCards paint into sections. Edit mode adds drag/reorder.</a:t>
            </a:r>
            <a:endParaRPr lang="en-US" sz="1050" dirty="0"/>
          </a:p>
        </p:txBody>
      </p:sp>
      <p:sp>
        <p:nvSpPr>
          <p:cNvPr id="22" name="Shape 20"/>
          <p:cNvSpPr/>
          <p:nvPr/>
        </p:nvSpPr>
        <p:spPr>
          <a:xfrm>
            <a:off x="457200" y="4828032"/>
            <a:ext cx="8229600" cy="0"/>
          </a:xfrm>
          <a:prstGeom prst="line">
            <a:avLst/>
          </a:prstGeom>
          <a:noFill/>
          <a:ln w="9525">
            <a:solidFill>
              <a:srgbClr val="2A3660"/>
            </a:solidFill>
            <a:prstDash val="solid"/>
          </a:ln>
        </p:spPr>
      </p:sp>
      <p:sp>
        <p:nvSpPr>
          <p:cNvPr id="23" name="Text 21"/>
          <p:cNvSpPr/>
          <p:nvPr/>
        </p:nvSpPr>
        <p:spPr>
          <a:xfrm>
            <a:off x="457200" y="4864608"/>
            <a:ext cx="2743200" cy="228600"/>
          </a:xfrm>
          <a:prstGeom prst="rect">
            <a:avLst/>
          </a:prstGeom>
          <a:noFill/>
          <a:ln/>
        </p:spPr>
        <p:txBody>
          <a:bodyPr wrap="square" lIns="0" tIns="0" rIns="0" bIns="0" rtlCol="0" anchor="ctr"/>
          <a:lstStyle/>
          <a:p>
            <a:pPr indent="0" marL="0">
              <a:buNone/>
            </a:pPr>
            <a:r>
              <a:rPr lang="en-US" sz="800" b="1" spc="400" kern="0" dirty="0">
                <a:solidFill>
                  <a:srgbClr val="6E7699"/>
                </a:solidFill>
                <a:latin typeface="Space Grotesk" pitchFamily="34" charset="0"/>
                <a:ea typeface="Space Grotesk" pitchFamily="34" charset="-122"/>
                <a:cs typeface="Space Grotesk" pitchFamily="34" charset="-120"/>
              </a:rPr>
              <a:t>ARCHITECT.DEV</a:t>
            </a:r>
            <a:endParaRPr lang="en-US" sz="800" dirty="0"/>
          </a:p>
        </p:txBody>
      </p:sp>
      <p:sp>
        <p:nvSpPr>
          <p:cNvPr id="24" name="Text 22"/>
          <p:cNvSpPr/>
          <p:nvPr/>
        </p:nvSpPr>
        <p:spPr>
          <a:xfrm>
            <a:off x="6400800" y="4864608"/>
            <a:ext cx="2286000" cy="228600"/>
          </a:xfrm>
          <a:prstGeom prst="rect">
            <a:avLst/>
          </a:prstGeom>
          <a:noFill/>
          <a:ln/>
        </p:spPr>
        <p:txBody>
          <a:bodyPr wrap="square" lIns="0" tIns="0" rIns="0" bIns="0" rtlCol="0" anchor="ctr"/>
          <a:lstStyle/>
          <a:p>
            <a:pPr algn="r" indent="0" marL="0">
              <a:buNone/>
            </a:pPr>
            <a:r>
              <a:rPr lang="en-US" sz="800" dirty="0">
                <a:solidFill>
                  <a:srgbClr val="6E7699"/>
                </a:solidFill>
                <a:latin typeface="Space Grotesk" pitchFamily="34" charset="0"/>
                <a:ea typeface="Space Grotesk" pitchFamily="34" charset="-122"/>
                <a:cs typeface="Space Grotesk" pitchFamily="34" charset="-120"/>
              </a:rPr>
              <a:t>10 / 12</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326"/>
        </a:solidFill>
      </p:bgPr>
    </p:bg>
    <p:spTree>
      <p:nvGrpSpPr>
        <p:cNvPr id="1" name=""/>
        <p:cNvGrpSpPr/>
        <p:nvPr/>
      </p:nvGrpSpPr>
      <p:grpSpPr>
        <a:xfrm>
          <a:off x="0" y="0"/>
          <a:ext cx="0" cy="0"/>
          <a:chOff x="0" y="0"/>
          <a:chExt cx="0" cy="0"/>
        </a:xfrm>
      </p:grpSpPr>
      <p:sp>
        <p:nvSpPr>
          <p:cNvPr id="2" name="Text 0"/>
          <p:cNvSpPr/>
          <p:nvPr/>
        </p:nvSpPr>
        <p:spPr>
          <a:xfrm>
            <a:off x="457200" y="365760"/>
            <a:ext cx="8229600" cy="228600"/>
          </a:xfrm>
          <a:prstGeom prst="rect">
            <a:avLst/>
          </a:prstGeom>
          <a:noFill/>
          <a:ln/>
        </p:spPr>
        <p:txBody>
          <a:bodyPr wrap="square" lIns="0" tIns="0" rIns="0" bIns="0" rtlCol="0" anchor="ctr"/>
          <a:lstStyle/>
          <a:p>
            <a:pPr indent="0" marL="0">
              <a:buNone/>
            </a:pPr>
            <a:r>
              <a:rPr lang="en-US" sz="1000" b="1" spc="600" kern="0" dirty="0">
                <a:solidFill>
                  <a:srgbClr val="C0C1FF"/>
                </a:solidFill>
                <a:latin typeface="Space Grotesk" pitchFamily="34" charset="0"/>
                <a:ea typeface="Space Grotesk" pitchFamily="34" charset="-122"/>
                <a:cs typeface="Space Grotesk" pitchFamily="34" charset="-120"/>
              </a:rPr>
              <a:t>10 · STYLING</a:t>
            </a:r>
            <a:endParaRPr lang="en-US" sz="1000" dirty="0"/>
          </a:p>
        </p:txBody>
      </p:sp>
      <p:sp>
        <p:nvSpPr>
          <p:cNvPr id="3" name="Text 1"/>
          <p:cNvSpPr/>
          <p:nvPr/>
        </p:nvSpPr>
        <p:spPr>
          <a:xfrm>
            <a:off x="457200" y="685800"/>
            <a:ext cx="8229600" cy="1188720"/>
          </a:xfrm>
          <a:prstGeom prst="rect">
            <a:avLst/>
          </a:prstGeom>
          <a:noFill/>
          <a:ln/>
        </p:spPr>
        <p:txBody>
          <a:bodyPr wrap="square" lIns="0" tIns="0" rIns="0" bIns="0" rtlCol="0" anchor="ctr"/>
          <a:lstStyle/>
          <a:p>
            <a:pPr indent="0" marL="0">
              <a:buNone/>
            </a:pPr>
            <a:r>
              <a:rPr lang="en-US" sz="3000" b="1" dirty="0">
                <a:solidFill>
                  <a:srgbClr val="FFFFFF"/>
                </a:solidFill>
                <a:latin typeface="Space Grotesk" pitchFamily="34" charset="0"/>
                <a:ea typeface="Space Grotesk" pitchFamily="34" charset="-122"/>
                <a:cs typeface="Space Grotesk" pitchFamily="34" charset="-120"/>
              </a:rPr>
              <a:t>One stylesheet,</a:t>
            </a:r>
            <a:endParaRPr lang="en-US" sz="3000" dirty="0"/>
          </a:p>
          <a:p>
            <a:pPr indent="0" marL="0">
              <a:buNone/>
            </a:pPr>
            <a:r>
              <a:rPr lang="en-US" sz="3000" b="1" dirty="0">
                <a:solidFill>
                  <a:srgbClr val="FFFFFF"/>
                </a:solidFill>
                <a:latin typeface="Space Grotesk" pitchFamily="34" charset="0"/>
                <a:ea typeface="Space Grotesk" pitchFamily="34" charset="-122"/>
                <a:cs typeface="Space Grotesk" pitchFamily="34" charset="-120"/>
              </a:rPr>
              <a:t>CSS custom properties.</a:t>
            </a:r>
            <a:endParaRPr lang="en-US" sz="3000" dirty="0"/>
          </a:p>
        </p:txBody>
      </p:sp>
      <p:sp>
        <p:nvSpPr>
          <p:cNvPr id="4" name="Shape 2"/>
          <p:cNvSpPr/>
          <p:nvPr/>
        </p:nvSpPr>
        <p:spPr>
          <a:xfrm>
            <a:off x="457200" y="2240280"/>
            <a:ext cx="4206240" cy="2331720"/>
          </a:xfrm>
          <a:prstGeom prst="rect">
            <a:avLst/>
          </a:prstGeom>
          <a:solidFill>
            <a:srgbClr val="111B36"/>
          </a:solidFill>
          <a:ln w="9525">
            <a:solidFill>
              <a:srgbClr val="2A3660"/>
            </a:solidFill>
            <a:prstDash val="solid"/>
          </a:ln>
        </p:spPr>
      </p:sp>
      <p:sp>
        <p:nvSpPr>
          <p:cNvPr id="5" name="Shape 3"/>
          <p:cNvSpPr/>
          <p:nvPr/>
        </p:nvSpPr>
        <p:spPr>
          <a:xfrm>
            <a:off x="457200" y="2240280"/>
            <a:ext cx="4206240" cy="36576"/>
          </a:xfrm>
          <a:prstGeom prst="rect">
            <a:avLst/>
          </a:prstGeom>
          <a:solidFill>
            <a:srgbClr val="C0C1FF"/>
          </a:solidFill>
          <a:ln w="12700">
            <a:solidFill>
              <a:srgbClr val="C0C1FF"/>
            </a:solidFill>
            <a:prstDash val="solid"/>
          </a:ln>
        </p:spPr>
      </p:sp>
      <p:sp>
        <p:nvSpPr>
          <p:cNvPr id="6" name="Text 4"/>
          <p:cNvSpPr/>
          <p:nvPr/>
        </p:nvSpPr>
        <p:spPr>
          <a:xfrm>
            <a:off x="685800" y="2331720"/>
            <a:ext cx="3657600" cy="274320"/>
          </a:xfrm>
          <a:prstGeom prst="rect">
            <a:avLst/>
          </a:prstGeom>
          <a:noFill/>
          <a:ln/>
        </p:spPr>
        <p:txBody>
          <a:bodyPr wrap="square" lIns="0" tIns="0" rIns="0" bIns="0" rtlCol="0" anchor="ctr"/>
          <a:lstStyle/>
          <a:p>
            <a:pPr indent="0" marL="0">
              <a:buNone/>
            </a:pPr>
            <a:r>
              <a:rPr lang="en-US" sz="1000" dirty="0">
                <a:solidFill>
                  <a:srgbClr val="6E7699"/>
                </a:solidFill>
                <a:latin typeface="Courier New" pitchFamily="34" charset="0"/>
                <a:ea typeface="Courier New" pitchFamily="34" charset="-122"/>
                <a:cs typeface="Courier New" pitchFamily="34" charset="-120"/>
              </a:rPr>
              <a:t>styles.css</a:t>
            </a:r>
            <a:endParaRPr lang="en-US" sz="1000" dirty="0"/>
          </a:p>
        </p:txBody>
      </p:sp>
      <p:sp>
        <p:nvSpPr>
          <p:cNvPr id="7" name="Text 5"/>
          <p:cNvSpPr/>
          <p:nvPr/>
        </p:nvSpPr>
        <p:spPr>
          <a:xfrm>
            <a:off x="685800" y="2697480"/>
            <a:ext cx="3840480" cy="1783080"/>
          </a:xfrm>
          <a:prstGeom prst="rect">
            <a:avLst/>
          </a:prstGeom>
          <a:noFill/>
          <a:ln/>
        </p:spPr>
        <p:txBody>
          <a:bodyPr wrap="square" lIns="0" tIns="0" rIns="0" bIns="0" rtlCol="0" anchor="ctr"/>
          <a:lstStyle/>
          <a:p>
            <a:pPr indent="0" marL="0">
              <a:spcAft>
                <a:spcPts val="300"/>
              </a:spcAft>
              <a:buNone/>
            </a:pPr>
            <a:r>
              <a:rPr lang="en-US" sz="1300" b="1" dirty="0">
                <a:solidFill>
                  <a:srgbClr val="C0C1FF"/>
                </a:solidFill>
                <a:latin typeface="Courier New" pitchFamily="34" charset="0"/>
                <a:ea typeface="Courier New" pitchFamily="34" charset="-122"/>
                <a:cs typeface="Courier New" pitchFamily="34" charset="-120"/>
              </a:rPr>
              <a:t>:root {</a:t>
            </a:r>
            <a:endParaRPr lang="en-US" sz="1300" dirty="0"/>
          </a:p>
          <a:p>
            <a:pPr indent="0" marL="0">
              <a:spcAft>
                <a:spcPts val="300"/>
              </a:spcAft>
              <a:buNone/>
            </a:pPr>
            <a:r>
              <a:rPr lang="en-US" sz="1300" dirty="0">
                <a:solidFill>
                  <a:srgbClr val="FFFFFF"/>
                </a:solidFill>
                <a:latin typeface="Courier New" pitchFamily="34" charset="0"/>
                <a:ea typeface="Courier New" pitchFamily="34" charset="-122"/>
                <a:cs typeface="Courier New" pitchFamily="34" charset="-120"/>
              </a:rPr>
              <a:t>  --bg:    #0b1326;</a:t>
            </a:r>
            <a:endParaRPr lang="en-US" sz="1300" dirty="0"/>
          </a:p>
          <a:p>
            <a:pPr indent="0" marL="0">
              <a:spcAft>
                <a:spcPts val="300"/>
              </a:spcAft>
              <a:buNone/>
            </a:pPr>
            <a:r>
              <a:rPr lang="en-US" sz="1300" dirty="0">
                <a:solidFill>
                  <a:srgbClr val="FFFFFF"/>
                </a:solidFill>
                <a:latin typeface="Courier New" pitchFamily="34" charset="0"/>
                <a:ea typeface="Courier New" pitchFamily="34" charset="-122"/>
                <a:cs typeface="Courier New" pitchFamily="34" charset="-120"/>
              </a:rPr>
              <a:t>  --text:  #e7ecf5;</a:t>
            </a:r>
            <a:endParaRPr lang="en-US" sz="1300" dirty="0"/>
          </a:p>
          <a:p>
            <a:pPr indent="0" marL="0">
              <a:spcAft>
                <a:spcPts val="300"/>
              </a:spcAft>
              <a:buNone/>
            </a:pPr>
            <a:r>
              <a:rPr lang="en-US" sz="1300" dirty="0">
                <a:solidFill>
                  <a:srgbClr val="FFFFFF"/>
                </a:solidFill>
                <a:latin typeface="Courier New" pitchFamily="34" charset="0"/>
                <a:ea typeface="Courier New" pitchFamily="34" charset="-122"/>
                <a:cs typeface="Courier New" pitchFamily="34" charset="-120"/>
              </a:rPr>
              <a:t>  --accent:#c0c1ff;</a:t>
            </a:r>
            <a:endParaRPr lang="en-US" sz="1300" dirty="0"/>
          </a:p>
          <a:p>
            <a:pPr indent="0" marL="0">
              <a:spcAft>
                <a:spcPts val="300"/>
              </a:spcAft>
              <a:buNone/>
            </a:pPr>
            <a:r>
              <a:rPr lang="en-US" sz="1300" dirty="0">
                <a:solidFill>
                  <a:srgbClr val="FFFFFF"/>
                </a:solidFill>
                <a:latin typeface="Courier New" pitchFamily="34" charset="0"/>
                <a:ea typeface="Courier New" pitchFamily="34" charset="-122"/>
                <a:cs typeface="Courier New" pitchFamily="34" charset="-120"/>
              </a:rPr>
              <a:t>  --panel: #141f3d;</a:t>
            </a:r>
            <a:endParaRPr lang="en-US" sz="1300" dirty="0"/>
          </a:p>
          <a:p>
            <a:pPr indent="0" marL="0">
              <a:spcAft>
                <a:spcPts val="300"/>
              </a:spcAft>
              <a:buNone/>
            </a:pPr>
            <a:r>
              <a:rPr lang="en-US" sz="1300" dirty="0">
                <a:solidFill>
                  <a:srgbClr val="FFFFFF"/>
                </a:solidFill>
                <a:latin typeface="Courier New" pitchFamily="34" charset="0"/>
                <a:ea typeface="Courier New" pitchFamily="34" charset="-122"/>
                <a:cs typeface="Courier New" pitchFamily="34" charset="-120"/>
              </a:rPr>
              <a:t>  --line:  #2a3660;</a:t>
            </a:r>
            <a:endParaRPr lang="en-US" sz="1300" dirty="0"/>
          </a:p>
          <a:p>
            <a:pPr indent="0" marL="0">
              <a:spcAft>
                <a:spcPts val="300"/>
              </a:spcAft>
              <a:buNone/>
            </a:pPr>
            <a:r>
              <a:rPr lang="en-US" sz="1300" b="1" dirty="0">
                <a:solidFill>
                  <a:srgbClr val="C0C1FF"/>
                </a:solidFill>
                <a:latin typeface="Courier New" pitchFamily="34" charset="0"/>
                <a:ea typeface="Courier New" pitchFamily="34" charset="-122"/>
                <a:cs typeface="Courier New" pitchFamily="34" charset="-120"/>
              </a:rPr>
              <a:t>}</a:t>
            </a:r>
            <a:endParaRPr lang="en-US" sz="1300" dirty="0"/>
          </a:p>
        </p:txBody>
      </p:sp>
      <p:sp>
        <p:nvSpPr>
          <p:cNvPr id="8" name="Text 6"/>
          <p:cNvSpPr/>
          <p:nvPr/>
        </p:nvSpPr>
        <p:spPr>
          <a:xfrm>
            <a:off x="4937760" y="2240280"/>
            <a:ext cx="3749040" cy="320040"/>
          </a:xfrm>
          <a:prstGeom prst="rect">
            <a:avLst/>
          </a:prstGeom>
          <a:noFill/>
          <a:ln/>
        </p:spPr>
        <p:txBody>
          <a:bodyPr wrap="square" lIns="0" tIns="0" rIns="0" bIns="0" rtlCol="0" anchor="ctr"/>
          <a:lstStyle/>
          <a:p>
            <a:pPr indent="0" marL="0">
              <a:buNone/>
            </a:pPr>
            <a:r>
              <a:rPr lang="en-US" sz="1300" b="1" spc="400" kern="0" dirty="0">
                <a:solidFill>
                  <a:srgbClr val="C0C1FF"/>
                </a:solidFill>
                <a:latin typeface="Space Grotesk" pitchFamily="34" charset="0"/>
                <a:ea typeface="Space Grotesk" pitchFamily="34" charset="-122"/>
                <a:cs typeface="Space Grotesk" pitchFamily="34" charset="-120"/>
              </a:rPr>
              <a:t>Why no framework</a:t>
            </a:r>
            <a:endParaRPr lang="en-US" sz="1300" dirty="0"/>
          </a:p>
        </p:txBody>
      </p:sp>
      <p:sp>
        <p:nvSpPr>
          <p:cNvPr id="9" name="Shape 7"/>
          <p:cNvSpPr/>
          <p:nvPr/>
        </p:nvSpPr>
        <p:spPr>
          <a:xfrm>
            <a:off x="4937760" y="2715768"/>
            <a:ext cx="91440" cy="91440"/>
          </a:xfrm>
          <a:prstGeom prst="ellipse">
            <a:avLst/>
          </a:prstGeom>
          <a:solidFill>
            <a:srgbClr val="C0C1FF"/>
          </a:solidFill>
          <a:ln w="12700">
            <a:solidFill>
              <a:srgbClr val="C0C1FF"/>
            </a:solidFill>
            <a:prstDash val="solid"/>
          </a:ln>
        </p:spPr>
      </p:sp>
      <p:sp>
        <p:nvSpPr>
          <p:cNvPr id="10" name="Text 8"/>
          <p:cNvSpPr/>
          <p:nvPr/>
        </p:nvSpPr>
        <p:spPr>
          <a:xfrm>
            <a:off x="5120640" y="2606040"/>
            <a:ext cx="3566160" cy="274320"/>
          </a:xfrm>
          <a:prstGeom prst="rect">
            <a:avLst/>
          </a:prstGeom>
          <a:noFill/>
          <a:ln/>
        </p:spPr>
        <p:txBody>
          <a:bodyPr wrap="square" lIns="0" tIns="0" rIns="0" bIns="0" rtlCol="0" anchor="ctr"/>
          <a:lstStyle/>
          <a:p>
            <a:pPr indent="0" marL="0">
              <a:buNone/>
            </a:pPr>
            <a:r>
              <a:rPr lang="en-US" sz="1200" b="1" dirty="0">
                <a:solidFill>
                  <a:srgbClr val="FFFFFF"/>
                </a:solidFill>
                <a:latin typeface="Space Grotesk" pitchFamily="34" charset="0"/>
                <a:ea typeface="Space Grotesk" pitchFamily="34" charset="-122"/>
                <a:cs typeface="Space Grotesk" pitchFamily="34" charset="-120"/>
              </a:rPr>
              <a:t>Zero runtime cost.</a:t>
            </a:r>
            <a:endParaRPr lang="en-US" sz="1200" dirty="0"/>
          </a:p>
        </p:txBody>
      </p:sp>
      <p:sp>
        <p:nvSpPr>
          <p:cNvPr id="11" name="Text 9"/>
          <p:cNvSpPr/>
          <p:nvPr/>
        </p:nvSpPr>
        <p:spPr>
          <a:xfrm>
            <a:off x="5120640" y="2880360"/>
            <a:ext cx="3566160" cy="228600"/>
          </a:xfrm>
          <a:prstGeom prst="rect">
            <a:avLst/>
          </a:prstGeom>
          <a:noFill/>
          <a:ln/>
        </p:spPr>
        <p:txBody>
          <a:bodyPr wrap="square" lIns="0" tIns="0" rIns="0" bIns="0" rtlCol="0" anchor="ctr"/>
          <a:lstStyle/>
          <a:p>
            <a:pPr indent="0" marL="0">
              <a:buNone/>
            </a:pPr>
            <a:r>
              <a:rPr lang="en-US" sz="1000" dirty="0">
                <a:solidFill>
                  <a:srgbClr val="A7ADC6"/>
                </a:solidFill>
                <a:latin typeface="Inter" pitchFamily="34" charset="0"/>
                <a:ea typeface="Inter" pitchFamily="34" charset="-122"/>
                <a:cs typeface="Inter" pitchFamily="34" charset="-120"/>
              </a:rPr>
              <a:t>No Tailwind JIT, no styled-components. The browser just reads CSS.</a:t>
            </a:r>
            <a:endParaRPr lang="en-US" sz="1000" dirty="0"/>
          </a:p>
        </p:txBody>
      </p:sp>
      <p:sp>
        <p:nvSpPr>
          <p:cNvPr id="12" name="Shape 10"/>
          <p:cNvSpPr/>
          <p:nvPr/>
        </p:nvSpPr>
        <p:spPr>
          <a:xfrm>
            <a:off x="4937760" y="3218688"/>
            <a:ext cx="91440" cy="91440"/>
          </a:xfrm>
          <a:prstGeom prst="ellipse">
            <a:avLst/>
          </a:prstGeom>
          <a:solidFill>
            <a:srgbClr val="C0C1FF"/>
          </a:solidFill>
          <a:ln w="12700">
            <a:solidFill>
              <a:srgbClr val="C0C1FF"/>
            </a:solidFill>
            <a:prstDash val="solid"/>
          </a:ln>
        </p:spPr>
      </p:sp>
      <p:sp>
        <p:nvSpPr>
          <p:cNvPr id="13" name="Text 11"/>
          <p:cNvSpPr/>
          <p:nvPr/>
        </p:nvSpPr>
        <p:spPr>
          <a:xfrm>
            <a:off x="5120640" y="3108960"/>
            <a:ext cx="3566160" cy="274320"/>
          </a:xfrm>
          <a:prstGeom prst="rect">
            <a:avLst/>
          </a:prstGeom>
          <a:noFill/>
          <a:ln/>
        </p:spPr>
        <p:txBody>
          <a:bodyPr wrap="square" lIns="0" tIns="0" rIns="0" bIns="0" rtlCol="0" anchor="ctr"/>
          <a:lstStyle/>
          <a:p>
            <a:pPr indent="0" marL="0">
              <a:buNone/>
            </a:pPr>
            <a:r>
              <a:rPr lang="en-US" sz="1200" b="1" dirty="0">
                <a:solidFill>
                  <a:srgbClr val="FFFFFF"/>
                </a:solidFill>
                <a:latin typeface="Space Grotesk" pitchFamily="34" charset="0"/>
                <a:ea typeface="Space Grotesk" pitchFamily="34" charset="-122"/>
                <a:cs typeface="Space Grotesk" pitchFamily="34" charset="-120"/>
              </a:rPr>
              <a:t>Tokens = the design system.</a:t>
            </a:r>
            <a:endParaRPr lang="en-US" sz="1200" dirty="0"/>
          </a:p>
        </p:txBody>
      </p:sp>
      <p:sp>
        <p:nvSpPr>
          <p:cNvPr id="14" name="Text 12"/>
          <p:cNvSpPr/>
          <p:nvPr/>
        </p:nvSpPr>
        <p:spPr>
          <a:xfrm>
            <a:off x="5120640" y="3383280"/>
            <a:ext cx="3566160" cy="228600"/>
          </a:xfrm>
          <a:prstGeom prst="rect">
            <a:avLst/>
          </a:prstGeom>
          <a:noFill/>
          <a:ln/>
        </p:spPr>
        <p:txBody>
          <a:bodyPr wrap="square" lIns="0" tIns="0" rIns="0" bIns="0" rtlCol="0" anchor="ctr"/>
          <a:lstStyle/>
          <a:p>
            <a:pPr indent="0" marL="0">
              <a:buNone/>
            </a:pPr>
            <a:r>
              <a:rPr lang="en-US" sz="1000" dirty="0">
                <a:solidFill>
                  <a:srgbClr val="A7ADC6"/>
                </a:solidFill>
                <a:latin typeface="Inter" pitchFamily="34" charset="0"/>
                <a:ea typeface="Inter" pitchFamily="34" charset="-122"/>
                <a:cs typeface="Inter" pitchFamily="34" charset="-120"/>
              </a:rPr>
              <a:t>Every colour and spacing rule is a variable — change one, change everything.</a:t>
            </a:r>
            <a:endParaRPr lang="en-US" sz="1000" dirty="0"/>
          </a:p>
        </p:txBody>
      </p:sp>
      <p:sp>
        <p:nvSpPr>
          <p:cNvPr id="15" name="Shape 13"/>
          <p:cNvSpPr/>
          <p:nvPr/>
        </p:nvSpPr>
        <p:spPr>
          <a:xfrm>
            <a:off x="4937760" y="3721608"/>
            <a:ext cx="91440" cy="91440"/>
          </a:xfrm>
          <a:prstGeom prst="ellipse">
            <a:avLst/>
          </a:prstGeom>
          <a:solidFill>
            <a:srgbClr val="C0C1FF"/>
          </a:solidFill>
          <a:ln w="12700">
            <a:solidFill>
              <a:srgbClr val="C0C1FF"/>
            </a:solidFill>
            <a:prstDash val="solid"/>
          </a:ln>
        </p:spPr>
      </p:sp>
      <p:sp>
        <p:nvSpPr>
          <p:cNvPr id="16" name="Text 14"/>
          <p:cNvSpPr/>
          <p:nvPr/>
        </p:nvSpPr>
        <p:spPr>
          <a:xfrm>
            <a:off x="5120640" y="3611880"/>
            <a:ext cx="3566160" cy="274320"/>
          </a:xfrm>
          <a:prstGeom prst="rect">
            <a:avLst/>
          </a:prstGeom>
          <a:noFill/>
          <a:ln/>
        </p:spPr>
        <p:txBody>
          <a:bodyPr wrap="square" lIns="0" tIns="0" rIns="0" bIns="0" rtlCol="0" anchor="ctr"/>
          <a:lstStyle/>
          <a:p>
            <a:pPr indent="0" marL="0">
              <a:buNone/>
            </a:pPr>
            <a:r>
              <a:rPr lang="en-US" sz="1200" b="1" dirty="0">
                <a:solidFill>
                  <a:srgbClr val="FFFFFF"/>
                </a:solidFill>
                <a:latin typeface="Space Grotesk" pitchFamily="34" charset="0"/>
                <a:ea typeface="Space Grotesk" pitchFamily="34" charset="-122"/>
                <a:cs typeface="Space Grotesk" pitchFamily="34" charset="-120"/>
              </a:rPr>
              <a:t>BEM class names.</a:t>
            </a:r>
            <a:endParaRPr lang="en-US" sz="1200" dirty="0"/>
          </a:p>
        </p:txBody>
      </p:sp>
      <p:sp>
        <p:nvSpPr>
          <p:cNvPr id="17" name="Text 15"/>
          <p:cNvSpPr/>
          <p:nvPr/>
        </p:nvSpPr>
        <p:spPr>
          <a:xfrm>
            <a:off x="5120640" y="3886200"/>
            <a:ext cx="3566160" cy="228600"/>
          </a:xfrm>
          <a:prstGeom prst="rect">
            <a:avLst/>
          </a:prstGeom>
          <a:noFill/>
          <a:ln/>
        </p:spPr>
        <p:txBody>
          <a:bodyPr wrap="square" lIns="0" tIns="0" rIns="0" bIns="0" rtlCol="0" anchor="ctr"/>
          <a:lstStyle/>
          <a:p>
            <a:pPr indent="0" marL="0">
              <a:buNone/>
            </a:pPr>
            <a:r>
              <a:rPr lang="en-US" sz="1000" dirty="0">
                <a:solidFill>
                  <a:srgbClr val="A7ADC6"/>
                </a:solidFill>
                <a:latin typeface="Inter" pitchFamily="34" charset="0"/>
                <a:ea typeface="Inter" pitchFamily="34" charset="-122"/>
                <a:cs typeface="Inter" pitchFamily="34" charset="-120"/>
              </a:rPr>
              <a:t>.project-card, .project-card__top, .project-card--featured. Easy to grep.</a:t>
            </a:r>
            <a:endParaRPr lang="en-US" sz="1000" dirty="0"/>
          </a:p>
        </p:txBody>
      </p:sp>
      <p:sp>
        <p:nvSpPr>
          <p:cNvPr id="18" name="Shape 16"/>
          <p:cNvSpPr/>
          <p:nvPr/>
        </p:nvSpPr>
        <p:spPr>
          <a:xfrm>
            <a:off x="4937760" y="4224528"/>
            <a:ext cx="91440" cy="91440"/>
          </a:xfrm>
          <a:prstGeom prst="ellipse">
            <a:avLst/>
          </a:prstGeom>
          <a:solidFill>
            <a:srgbClr val="C0C1FF"/>
          </a:solidFill>
          <a:ln w="12700">
            <a:solidFill>
              <a:srgbClr val="C0C1FF"/>
            </a:solidFill>
            <a:prstDash val="solid"/>
          </a:ln>
        </p:spPr>
      </p:sp>
      <p:sp>
        <p:nvSpPr>
          <p:cNvPr id="19" name="Text 17"/>
          <p:cNvSpPr/>
          <p:nvPr/>
        </p:nvSpPr>
        <p:spPr>
          <a:xfrm>
            <a:off x="5120640" y="4114800"/>
            <a:ext cx="3566160" cy="274320"/>
          </a:xfrm>
          <a:prstGeom prst="rect">
            <a:avLst/>
          </a:prstGeom>
          <a:noFill/>
          <a:ln/>
        </p:spPr>
        <p:txBody>
          <a:bodyPr wrap="square" lIns="0" tIns="0" rIns="0" bIns="0" rtlCol="0" anchor="ctr"/>
          <a:lstStyle/>
          <a:p>
            <a:pPr indent="0" marL="0">
              <a:buNone/>
            </a:pPr>
            <a:r>
              <a:rPr lang="en-US" sz="1200" b="1" dirty="0">
                <a:solidFill>
                  <a:srgbClr val="FFFFFF"/>
                </a:solidFill>
                <a:latin typeface="Space Grotesk" pitchFamily="34" charset="0"/>
                <a:ea typeface="Space Grotesk" pitchFamily="34" charset="-122"/>
                <a:cs typeface="Space Grotesk" pitchFamily="34" charset="-120"/>
              </a:rPr>
              <a:t>Dark mode by default.</a:t>
            </a:r>
            <a:endParaRPr lang="en-US" sz="1200" dirty="0"/>
          </a:p>
        </p:txBody>
      </p:sp>
      <p:sp>
        <p:nvSpPr>
          <p:cNvPr id="20" name="Text 18"/>
          <p:cNvSpPr/>
          <p:nvPr/>
        </p:nvSpPr>
        <p:spPr>
          <a:xfrm>
            <a:off x="5120640" y="4389120"/>
            <a:ext cx="3566160" cy="228600"/>
          </a:xfrm>
          <a:prstGeom prst="rect">
            <a:avLst/>
          </a:prstGeom>
          <a:noFill/>
          <a:ln/>
        </p:spPr>
        <p:txBody>
          <a:bodyPr wrap="square" lIns="0" tIns="0" rIns="0" bIns="0" rtlCol="0" anchor="ctr"/>
          <a:lstStyle/>
          <a:p>
            <a:pPr indent="0" marL="0">
              <a:buNone/>
            </a:pPr>
            <a:r>
              <a:rPr lang="en-US" sz="1000" dirty="0">
                <a:solidFill>
                  <a:srgbClr val="A7ADC6"/>
                </a:solidFill>
                <a:latin typeface="Inter" pitchFamily="34" charset="0"/>
                <a:ea typeface="Inter" pitchFamily="34" charset="-122"/>
                <a:cs typeface="Inter" pitchFamily="34" charset="-120"/>
              </a:rPr>
              <a:t>color-scheme: dark tells the browser about native controls too.</a:t>
            </a:r>
            <a:endParaRPr lang="en-US" sz="1000" dirty="0"/>
          </a:p>
        </p:txBody>
      </p:sp>
      <p:sp>
        <p:nvSpPr>
          <p:cNvPr id="21" name="Shape 19"/>
          <p:cNvSpPr/>
          <p:nvPr/>
        </p:nvSpPr>
        <p:spPr>
          <a:xfrm>
            <a:off x="457200" y="4828032"/>
            <a:ext cx="8229600" cy="0"/>
          </a:xfrm>
          <a:prstGeom prst="line">
            <a:avLst/>
          </a:prstGeom>
          <a:noFill/>
          <a:ln w="9525">
            <a:solidFill>
              <a:srgbClr val="2A3660"/>
            </a:solidFill>
            <a:prstDash val="solid"/>
          </a:ln>
        </p:spPr>
      </p:sp>
      <p:sp>
        <p:nvSpPr>
          <p:cNvPr id="22" name="Text 20"/>
          <p:cNvSpPr/>
          <p:nvPr/>
        </p:nvSpPr>
        <p:spPr>
          <a:xfrm>
            <a:off x="457200" y="4864608"/>
            <a:ext cx="2743200" cy="228600"/>
          </a:xfrm>
          <a:prstGeom prst="rect">
            <a:avLst/>
          </a:prstGeom>
          <a:noFill/>
          <a:ln/>
        </p:spPr>
        <p:txBody>
          <a:bodyPr wrap="square" lIns="0" tIns="0" rIns="0" bIns="0" rtlCol="0" anchor="ctr"/>
          <a:lstStyle/>
          <a:p>
            <a:pPr indent="0" marL="0">
              <a:buNone/>
            </a:pPr>
            <a:r>
              <a:rPr lang="en-US" sz="800" b="1" spc="400" kern="0" dirty="0">
                <a:solidFill>
                  <a:srgbClr val="6E7699"/>
                </a:solidFill>
                <a:latin typeface="Space Grotesk" pitchFamily="34" charset="0"/>
                <a:ea typeface="Space Grotesk" pitchFamily="34" charset="-122"/>
                <a:cs typeface="Space Grotesk" pitchFamily="34" charset="-120"/>
              </a:rPr>
              <a:t>ARCHITECT.DEV</a:t>
            </a:r>
            <a:endParaRPr lang="en-US" sz="800" dirty="0"/>
          </a:p>
        </p:txBody>
      </p:sp>
      <p:sp>
        <p:nvSpPr>
          <p:cNvPr id="23" name="Text 21"/>
          <p:cNvSpPr/>
          <p:nvPr/>
        </p:nvSpPr>
        <p:spPr>
          <a:xfrm>
            <a:off x="6400800" y="4864608"/>
            <a:ext cx="2286000" cy="228600"/>
          </a:xfrm>
          <a:prstGeom prst="rect">
            <a:avLst/>
          </a:prstGeom>
          <a:noFill/>
          <a:ln/>
        </p:spPr>
        <p:txBody>
          <a:bodyPr wrap="square" lIns="0" tIns="0" rIns="0" bIns="0" rtlCol="0" anchor="ctr"/>
          <a:lstStyle/>
          <a:p>
            <a:pPr algn="r" indent="0" marL="0">
              <a:buNone/>
            </a:pPr>
            <a:r>
              <a:rPr lang="en-US" sz="800" dirty="0">
                <a:solidFill>
                  <a:srgbClr val="6E7699"/>
                </a:solidFill>
                <a:latin typeface="Space Grotesk" pitchFamily="34" charset="0"/>
                <a:ea typeface="Space Grotesk" pitchFamily="34" charset="-122"/>
                <a:cs typeface="Space Grotesk" pitchFamily="34" charset="-120"/>
              </a:rPr>
              <a:t>11 / 12</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B1326"/>
        </a:solidFill>
      </p:bgPr>
    </p:bg>
    <p:spTree>
      <p:nvGrpSpPr>
        <p:cNvPr id="1" name=""/>
        <p:cNvGrpSpPr/>
        <p:nvPr/>
      </p:nvGrpSpPr>
      <p:grpSpPr>
        <a:xfrm>
          <a:off x="0" y="0"/>
          <a:ext cx="0" cy="0"/>
          <a:chOff x="0" y="0"/>
          <a:chExt cx="0" cy="0"/>
        </a:xfrm>
      </p:grpSpPr>
      <p:sp>
        <p:nvSpPr>
          <p:cNvPr id="2" name="Shape 0"/>
          <p:cNvSpPr/>
          <p:nvPr/>
        </p:nvSpPr>
        <p:spPr>
          <a:xfrm>
            <a:off x="0" y="0"/>
            <a:ext cx="73152" cy="5143500"/>
          </a:xfrm>
          <a:prstGeom prst="rect">
            <a:avLst/>
          </a:prstGeom>
          <a:solidFill>
            <a:srgbClr val="C0C1FF"/>
          </a:solidFill>
          <a:ln w="12700">
            <a:solidFill>
              <a:srgbClr val="C0C1FF"/>
            </a:solidFill>
            <a:prstDash val="solid"/>
          </a:ln>
        </p:spPr>
      </p:sp>
      <p:sp>
        <p:nvSpPr>
          <p:cNvPr id="3" name="Text 1"/>
          <p:cNvSpPr/>
          <p:nvPr/>
        </p:nvSpPr>
        <p:spPr>
          <a:xfrm>
            <a:off x="640080" y="502920"/>
            <a:ext cx="8229600" cy="274320"/>
          </a:xfrm>
          <a:prstGeom prst="rect">
            <a:avLst/>
          </a:prstGeom>
          <a:noFill/>
          <a:ln/>
        </p:spPr>
        <p:txBody>
          <a:bodyPr wrap="square" lIns="0" tIns="0" rIns="0" bIns="0" rtlCol="0" anchor="ctr"/>
          <a:lstStyle/>
          <a:p>
            <a:pPr indent="0" marL="0">
              <a:buNone/>
            </a:pPr>
            <a:r>
              <a:rPr lang="en-US" sz="1000" b="1" spc="600" kern="0" dirty="0">
                <a:solidFill>
                  <a:srgbClr val="C0C1FF"/>
                </a:solidFill>
                <a:latin typeface="Space Grotesk" pitchFamily="34" charset="0"/>
                <a:ea typeface="Space Grotesk" pitchFamily="34" charset="-122"/>
                <a:cs typeface="Space Grotesk" pitchFamily="34" charset="-120"/>
              </a:rPr>
              <a:t>QUESTIONS?</a:t>
            </a:r>
            <a:endParaRPr lang="en-US" sz="1000" dirty="0"/>
          </a:p>
        </p:txBody>
      </p:sp>
      <p:sp>
        <p:nvSpPr>
          <p:cNvPr id="4" name="Text 2"/>
          <p:cNvSpPr/>
          <p:nvPr/>
        </p:nvSpPr>
        <p:spPr>
          <a:xfrm>
            <a:off x="640080" y="1234440"/>
            <a:ext cx="8229600" cy="1280160"/>
          </a:xfrm>
          <a:prstGeom prst="rect">
            <a:avLst/>
          </a:prstGeom>
          <a:noFill/>
          <a:ln/>
        </p:spPr>
        <p:txBody>
          <a:bodyPr wrap="square" lIns="0" tIns="0" rIns="0" bIns="0" rtlCol="0" anchor="ctr"/>
          <a:lstStyle/>
          <a:p>
            <a:pPr indent="0" marL="0">
              <a:buNone/>
            </a:pPr>
            <a:r>
              <a:rPr lang="en-US" sz="5200" b="1" dirty="0">
                <a:solidFill>
                  <a:srgbClr val="FFFFFF"/>
                </a:solidFill>
                <a:latin typeface="Space Grotesk" pitchFamily="34" charset="0"/>
                <a:ea typeface="Space Grotesk" pitchFamily="34" charset="-122"/>
                <a:cs typeface="Space Grotesk" pitchFamily="34" charset="-120"/>
              </a:rPr>
              <a:t>Thanks for listening.</a:t>
            </a:r>
            <a:endParaRPr lang="en-US" sz="5200" dirty="0"/>
          </a:p>
        </p:txBody>
      </p:sp>
      <p:sp>
        <p:nvSpPr>
          <p:cNvPr id="5" name="Text 3"/>
          <p:cNvSpPr/>
          <p:nvPr/>
        </p:nvSpPr>
        <p:spPr>
          <a:xfrm>
            <a:off x="640080" y="2788920"/>
            <a:ext cx="8229600" cy="548640"/>
          </a:xfrm>
          <a:prstGeom prst="rect">
            <a:avLst/>
          </a:prstGeom>
          <a:noFill/>
          <a:ln/>
        </p:spPr>
        <p:txBody>
          <a:bodyPr wrap="square" lIns="0" tIns="0" rIns="0" bIns="0" rtlCol="0" anchor="ctr"/>
          <a:lstStyle/>
          <a:p>
            <a:pPr indent="0" marL="0">
              <a:buNone/>
            </a:pPr>
            <a:r>
              <a:rPr lang="en-US" sz="1800" dirty="0">
                <a:solidFill>
                  <a:srgbClr val="A7ADC6"/>
                </a:solidFill>
                <a:latin typeface="Space Grotesk" pitchFamily="34" charset="0"/>
                <a:ea typeface="Space Grotesk" pitchFamily="34" charset="-122"/>
                <a:cs typeface="Space Grotesk" pitchFamily="34" charset="-120"/>
              </a:rPr>
              <a:t>Happy to dig into any layer —  </a:t>
            </a:r>
            <a:pPr indent="0" marL="0">
              <a:buNone/>
            </a:pPr>
            <a:r>
              <a:rPr lang="en-US" sz="1800" i="1" dirty="0">
                <a:solidFill>
                  <a:srgbClr val="C0C1FF"/>
                </a:solidFill>
                <a:latin typeface="Space Grotesk" pitchFamily="34" charset="0"/>
                <a:ea typeface="Space Grotesk" pitchFamily="34" charset="-122"/>
                <a:cs typeface="Space Grotesk" pitchFamily="34" charset="-120"/>
              </a:rPr>
              <a:t>routing, data, Supabase, GitHub, or CSS.</a:t>
            </a:r>
            <a:endParaRPr lang="en-US" sz="1800" dirty="0"/>
          </a:p>
        </p:txBody>
      </p:sp>
      <p:sp>
        <p:nvSpPr>
          <p:cNvPr id="6" name="Shape 4"/>
          <p:cNvSpPr/>
          <p:nvPr/>
        </p:nvSpPr>
        <p:spPr>
          <a:xfrm>
            <a:off x="640080" y="3611880"/>
            <a:ext cx="1463040" cy="411480"/>
          </a:xfrm>
          <a:prstGeom prst="rect">
            <a:avLst/>
          </a:prstGeom>
          <a:solidFill>
            <a:srgbClr val="141F3D"/>
          </a:solidFill>
          <a:ln w="9525">
            <a:solidFill>
              <a:srgbClr val="2A3660"/>
            </a:solidFill>
            <a:prstDash val="solid"/>
          </a:ln>
        </p:spPr>
      </p:sp>
      <p:sp>
        <p:nvSpPr>
          <p:cNvPr id="7" name="Text 5"/>
          <p:cNvSpPr/>
          <p:nvPr/>
        </p:nvSpPr>
        <p:spPr>
          <a:xfrm>
            <a:off x="640080" y="3611880"/>
            <a:ext cx="1463040"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Space Grotesk" pitchFamily="34" charset="0"/>
                <a:ea typeface="Space Grotesk" pitchFamily="34" charset="-122"/>
                <a:cs typeface="Space Grotesk" pitchFamily="34" charset="-120"/>
              </a:rPr>
              <a:t>React + TS</a:t>
            </a:r>
            <a:endParaRPr lang="en-US" sz="1050" dirty="0"/>
          </a:p>
        </p:txBody>
      </p:sp>
      <p:sp>
        <p:nvSpPr>
          <p:cNvPr id="8" name="Shape 6"/>
          <p:cNvSpPr/>
          <p:nvPr/>
        </p:nvSpPr>
        <p:spPr>
          <a:xfrm>
            <a:off x="2212848" y="3611880"/>
            <a:ext cx="1463040" cy="411480"/>
          </a:xfrm>
          <a:prstGeom prst="rect">
            <a:avLst/>
          </a:prstGeom>
          <a:solidFill>
            <a:srgbClr val="141F3D"/>
          </a:solidFill>
          <a:ln w="9525">
            <a:solidFill>
              <a:srgbClr val="2A3660"/>
            </a:solidFill>
            <a:prstDash val="solid"/>
          </a:ln>
        </p:spPr>
      </p:sp>
      <p:sp>
        <p:nvSpPr>
          <p:cNvPr id="9" name="Text 7"/>
          <p:cNvSpPr/>
          <p:nvPr/>
        </p:nvSpPr>
        <p:spPr>
          <a:xfrm>
            <a:off x="2212848" y="3611880"/>
            <a:ext cx="1463040"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Space Grotesk" pitchFamily="34" charset="0"/>
                <a:ea typeface="Space Grotesk" pitchFamily="34" charset="-122"/>
                <a:cs typeface="Space Grotesk" pitchFamily="34" charset="-120"/>
              </a:rPr>
              <a:t>Vite</a:t>
            </a:r>
            <a:endParaRPr lang="en-US" sz="1050" dirty="0"/>
          </a:p>
        </p:txBody>
      </p:sp>
      <p:sp>
        <p:nvSpPr>
          <p:cNvPr id="10" name="Shape 8"/>
          <p:cNvSpPr/>
          <p:nvPr/>
        </p:nvSpPr>
        <p:spPr>
          <a:xfrm>
            <a:off x="3785616" y="3611880"/>
            <a:ext cx="1463040" cy="411480"/>
          </a:xfrm>
          <a:prstGeom prst="rect">
            <a:avLst/>
          </a:prstGeom>
          <a:solidFill>
            <a:srgbClr val="141F3D"/>
          </a:solidFill>
          <a:ln w="9525">
            <a:solidFill>
              <a:srgbClr val="2A3660"/>
            </a:solidFill>
            <a:prstDash val="solid"/>
          </a:ln>
        </p:spPr>
      </p:sp>
      <p:sp>
        <p:nvSpPr>
          <p:cNvPr id="11" name="Text 9"/>
          <p:cNvSpPr/>
          <p:nvPr/>
        </p:nvSpPr>
        <p:spPr>
          <a:xfrm>
            <a:off x="3785616" y="3611880"/>
            <a:ext cx="1463040"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Space Grotesk" pitchFamily="34" charset="0"/>
                <a:ea typeface="Space Grotesk" pitchFamily="34" charset="-122"/>
                <a:cs typeface="Space Grotesk" pitchFamily="34" charset="-120"/>
              </a:rPr>
              <a:t>Supabase</a:t>
            </a:r>
            <a:endParaRPr lang="en-US" sz="1050" dirty="0"/>
          </a:p>
        </p:txBody>
      </p:sp>
      <p:sp>
        <p:nvSpPr>
          <p:cNvPr id="12" name="Shape 10"/>
          <p:cNvSpPr/>
          <p:nvPr/>
        </p:nvSpPr>
        <p:spPr>
          <a:xfrm>
            <a:off x="5358384" y="3611880"/>
            <a:ext cx="1463040" cy="411480"/>
          </a:xfrm>
          <a:prstGeom prst="rect">
            <a:avLst/>
          </a:prstGeom>
          <a:solidFill>
            <a:srgbClr val="141F3D"/>
          </a:solidFill>
          <a:ln w="9525">
            <a:solidFill>
              <a:srgbClr val="2A3660"/>
            </a:solidFill>
            <a:prstDash val="solid"/>
          </a:ln>
        </p:spPr>
      </p:sp>
      <p:sp>
        <p:nvSpPr>
          <p:cNvPr id="13" name="Text 11"/>
          <p:cNvSpPr/>
          <p:nvPr/>
        </p:nvSpPr>
        <p:spPr>
          <a:xfrm>
            <a:off x="5358384" y="3611880"/>
            <a:ext cx="1463040"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Space Grotesk" pitchFamily="34" charset="0"/>
                <a:ea typeface="Space Grotesk" pitchFamily="34" charset="-122"/>
                <a:cs typeface="Space Grotesk" pitchFamily="34" charset="-120"/>
              </a:rPr>
              <a:t>GitHub API</a:t>
            </a:r>
            <a:endParaRPr lang="en-US" sz="1050" dirty="0"/>
          </a:p>
        </p:txBody>
      </p:sp>
      <p:sp>
        <p:nvSpPr>
          <p:cNvPr id="14" name="Shape 12"/>
          <p:cNvSpPr/>
          <p:nvPr/>
        </p:nvSpPr>
        <p:spPr>
          <a:xfrm>
            <a:off x="6931152" y="3611880"/>
            <a:ext cx="1463040" cy="411480"/>
          </a:xfrm>
          <a:prstGeom prst="rect">
            <a:avLst/>
          </a:prstGeom>
          <a:solidFill>
            <a:srgbClr val="141F3D"/>
          </a:solidFill>
          <a:ln w="9525">
            <a:solidFill>
              <a:srgbClr val="2A3660"/>
            </a:solidFill>
            <a:prstDash val="solid"/>
          </a:ln>
        </p:spPr>
      </p:sp>
      <p:sp>
        <p:nvSpPr>
          <p:cNvPr id="15" name="Text 13"/>
          <p:cNvSpPr/>
          <p:nvPr/>
        </p:nvSpPr>
        <p:spPr>
          <a:xfrm>
            <a:off x="6931152" y="3611880"/>
            <a:ext cx="1463040"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Space Grotesk" pitchFamily="34" charset="0"/>
                <a:ea typeface="Space Grotesk" pitchFamily="34" charset="-122"/>
                <a:cs typeface="Space Grotesk" pitchFamily="34" charset="-120"/>
              </a:rPr>
              <a:t>YAML</a:t>
            </a:r>
            <a:endParaRPr lang="en-US" sz="1050" dirty="0"/>
          </a:p>
        </p:txBody>
      </p:sp>
      <p:sp>
        <p:nvSpPr>
          <p:cNvPr id="16" name="Shape 14"/>
          <p:cNvSpPr/>
          <p:nvPr/>
        </p:nvSpPr>
        <p:spPr>
          <a:xfrm>
            <a:off x="640080" y="4343400"/>
            <a:ext cx="548640" cy="0"/>
          </a:xfrm>
          <a:prstGeom prst="line">
            <a:avLst/>
          </a:prstGeom>
          <a:noFill/>
          <a:ln w="19050">
            <a:solidFill>
              <a:srgbClr val="C0C1FF"/>
            </a:solidFill>
            <a:prstDash val="solid"/>
          </a:ln>
        </p:spPr>
      </p:sp>
      <p:sp>
        <p:nvSpPr>
          <p:cNvPr id="17" name="Text 15"/>
          <p:cNvSpPr/>
          <p:nvPr/>
        </p:nvSpPr>
        <p:spPr>
          <a:xfrm>
            <a:off x="640080" y="4434840"/>
            <a:ext cx="7315200" cy="274320"/>
          </a:xfrm>
          <a:prstGeom prst="rect">
            <a:avLst/>
          </a:prstGeom>
          <a:noFill/>
          <a:ln/>
        </p:spPr>
        <p:txBody>
          <a:bodyPr wrap="square" lIns="0" tIns="0" rIns="0" bIns="0" rtlCol="0" anchor="ctr"/>
          <a:lstStyle/>
          <a:p>
            <a:pPr indent="0" marL="0">
              <a:buNone/>
            </a:pPr>
            <a:r>
              <a:rPr lang="en-US" sz="1200" dirty="0">
                <a:solidFill>
                  <a:srgbClr val="A7ADC6"/>
                </a:solidFill>
                <a:latin typeface="Inter" pitchFamily="34" charset="0"/>
                <a:ea typeface="Inter" pitchFamily="34" charset="-122"/>
                <a:cs typeface="Inter" pitchFamily="34" charset="-120"/>
              </a:rPr>
              <a:t>Architect.Dev  ·  Manfred  ·  April 2026</a:t>
            </a:r>
            <a:endParaRPr lang="en-US" sz="1200" dirty="0"/>
          </a:p>
        </p:txBody>
      </p:sp>
      <p:sp>
        <p:nvSpPr>
          <p:cNvPr id="18" name="Text 16"/>
          <p:cNvSpPr/>
          <p:nvPr/>
        </p:nvSpPr>
        <p:spPr>
          <a:xfrm>
            <a:off x="7863840" y="4434840"/>
            <a:ext cx="1097280" cy="274320"/>
          </a:xfrm>
          <a:prstGeom prst="rect">
            <a:avLst/>
          </a:prstGeom>
          <a:noFill/>
          <a:ln/>
        </p:spPr>
        <p:txBody>
          <a:bodyPr wrap="square" lIns="0" tIns="0" rIns="0" bIns="0" rtlCol="0" anchor="ctr"/>
          <a:lstStyle/>
          <a:p>
            <a:pPr algn="r" indent="0" marL="0">
              <a:buNone/>
            </a:pPr>
            <a:r>
              <a:rPr lang="en-US" sz="1000" b="1" dirty="0">
                <a:solidFill>
                  <a:srgbClr val="6E7699"/>
                </a:solidFill>
                <a:latin typeface="Space Grotesk" pitchFamily="34" charset="0"/>
                <a:ea typeface="Space Grotesk" pitchFamily="34" charset="-122"/>
                <a:cs typeface="Space Grotesk" pitchFamily="34" charset="-120"/>
              </a:rPr>
              <a:t>12 / 12</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Architect.Dev — Tech Overview</dc:title>
  <dc:subject>PptxGenJS Presentation</dc:subject>
  <dc:creator>Manfred</dc:creator>
  <cp:lastModifiedBy>Manfred</cp:lastModifiedBy>
  <cp:revision>1</cp:revision>
  <dcterms:created xsi:type="dcterms:W3CDTF">2026-04-22T08:13:33Z</dcterms:created>
  <dcterms:modified xsi:type="dcterms:W3CDTF">2026-04-22T08:13:33Z</dcterms:modified>
</cp:coreProperties>
</file>